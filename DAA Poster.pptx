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4211300" cy="20104100"/>
  <p:notesSz cx="142113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323" y="6232271"/>
            <a:ext cx="1208500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2647" y="11258296"/>
            <a:ext cx="995235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10882" y="4623943"/>
            <a:ext cx="6184678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322089" y="4623943"/>
            <a:ext cx="6184678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4215110" cy="20104100"/>
          </a:xfrm>
          <a:custGeom>
            <a:avLst/>
            <a:gdLst/>
            <a:ahLst/>
            <a:cxnLst/>
            <a:rect l="l" t="t" r="r" b="b"/>
            <a:pathLst>
              <a:path w="14215110" h="20104100">
                <a:moveTo>
                  <a:pt x="14215020" y="20104100"/>
                </a:moveTo>
                <a:lnTo>
                  <a:pt x="0" y="20104100"/>
                </a:lnTo>
                <a:lnTo>
                  <a:pt x="0" y="0"/>
                </a:lnTo>
                <a:lnTo>
                  <a:pt x="14215020" y="0"/>
                </a:lnTo>
                <a:lnTo>
                  <a:pt x="14215020" y="2010410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262111" y="1846227"/>
            <a:ext cx="6882130" cy="18087975"/>
          </a:xfrm>
          <a:custGeom>
            <a:avLst/>
            <a:gdLst/>
            <a:ahLst/>
            <a:cxnLst/>
            <a:rect l="l" t="t" r="r" b="b"/>
            <a:pathLst>
              <a:path w="6882130" h="18087975">
                <a:moveTo>
                  <a:pt x="6705780" y="18087680"/>
                </a:moveTo>
                <a:lnTo>
                  <a:pt x="175895" y="18087680"/>
                </a:lnTo>
                <a:lnTo>
                  <a:pt x="129135" y="18081397"/>
                </a:lnTo>
                <a:lnTo>
                  <a:pt x="87117" y="18063666"/>
                </a:lnTo>
                <a:lnTo>
                  <a:pt x="51518" y="18036162"/>
                </a:lnTo>
                <a:lnTo>
                  <a:pt x="24014" y="18000562"/>
                </a:lnTo>
                <a:lnTo>
                  <a:pt x="6283" y="17958544"/>
                </a:lnTo>
                <a:lnTo>
                  <a:pt x="0" y="17911784"/>
                </a:lnTo>
                <a:lnTo>
                  <a:pt x="0" y="175895"/>
                </a:lnTo>
                <a:lnTo>
                  <a:pt x="6283" y="129135"/>
                </a:lnTo>
                <a:lnTo>
                  <a:pt x="24014" y="87117"/>
                </a:lnTo>
                <a:lnTo>
                  <a:pt x="51518" y="51518"/>
                </a:lnTo>
                <a:lnTo>
                  <a:pt x="87117" y="24014"/>
                </a:lnTo>
                <a:lnTo>
                  <a:pt x="129135" y="6283"/>
                </a:lnTo>
                <a:lnTo>
                  <a:pt x="175895" y="0"/>
                </a:lnTo>
                <a:lnTo>
                  <a:pt x="6705780" y="0"/>
                </a:lnTo>
                <a:lnTo>
                  <a:pt x="6773093" y="13389"/>
                </a:lnTo>
                <a:lnTo>
                  <a:pt x="6830157" y="51518"/>
                </a:lnTo>
                <a:lnTo>
                  <a:pt x="6868287" y="108583"/>
                </a:lnTo>
                <a:lnTo>
                  <a:pt x="6881676" y="175895"/>
                </a:lnTo>
                <a:lnTo>
                  <a:pt x="6881676" y="17911784"/>
                </a:lnTo>
                <a:lnTo>
                  <a:pt x="6875393" y="17958544"/>
                </a:lnTo>
                <a:lnTo>
                  <a:pt x="6857661" y="18000562"/>
                </a:lnTo>
                <a:lnTo>
                  <a:pt x="6830157" y="18036162"/>
                </a:lnTo>
                <a:lnTo>
                  <a:pt x="6794558" y="18063666"/>
                </a:lnTo>
                <a:lnTo>
                  <a:pt x="6752540" y="18081397"/>
                </a:lnTo>
                <a:lnTo>
                  <a:pt x="6705780" y="18087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262111" y="1846227"/>
            <a:ext cx="6882130" cy="18087975"/>
          </a:xfrm>
          <a:custGeom>
            <a:avLst/>
            <a:gdLst/>
            <a:ahLst/>
            <a:cxnLst/>
            <a:rect l="l" t="t" r="r" b="b"/>
            <a:pathLst>
              <a:path w="6882130" h="18087975">
                <a:moveTo>
                  <a:pt x="0" y="175895"/>
                </a:moveTo>
                <a:lnTo>
                  <a:pt x="6283" y="129135"/>
                </a:lnTo>
                <a:lnTo>
                  <a:pt x="24014" y="87117"/>
                </a:lnTo>
                <a:lnTo>
                  <a:pt x="51518" y="51518"/>
                </a:lnTo>
                <a:lnTo>
                  <a:pt x="87117" y="24014"/>
                </a:lnTo>
                <a:lnTo>
                  <a:pt x="129135" y="6283"/>
                </a:lnTo>
                <a:lnTo>
                  <a:pt x="175895" y="0"/>
                </a:lnTo>
                <a:lnTo>
                  <a:pt x="6705780" y="0"/>
                </a:lnTo>
                <a:lnTo>
                  <a:pt x="6773093" y="13389"/>
                </a:lnTo>
                <a:lnTo>
                  <a:pt x="6830157" y="51518"/>
                </a:lnTo>
                <a:lnTo>
                  <a:pt x="6868287" y="108583"/>
                </a:lnTo>
                <a:lnTo>
                  <a:pt x="6881676" y="175895"/>
                </a:lnTo>
                <a:lnTo>
                  <a:pt x="6881676" y="17911784"/>
                </a:lnTo>
                <a:lnTo>
                  <a:pt x="6875393" y="17958544"/>
                </a:lnTo>
                <a:lnTo>
                  <a:pt x="6857661" y="18000562"/>
                </a:lnTo>
                <a:lnTo>
                  <a:pt x="6830157" y="18036162"/>
                </a:lnTo>
                <a:lnTo>
                  <a:pt x="6794558" y="18063666"/>
                </a:lnTo>
                <a:lnTo>
                  <a:pt x="6752540" y="18081397"/>
                </a:lnTo>
                <a:lnTo>
                  <a:pt x="6705780" y="18087680"/>
                </a:lnTo>
                <a:lnTo>
                  <a:pt x="175895" y="18087680"/>
                </a:lnTo>
                <a:lnTo>
                  <a:pt x="129135" y="18081397"/>
                </a:lnTo>
                <a:lnTo>
                  <a:pt x="87117" y="18063666"/>
                </a:lnTo>
                <a:lnTo>
                  <a:pt x="51518" y="18036162"/>
                </a:lnTo>
                <a:lnTo>
                  <a:pt x="24014" y="18000562"/>
                </a:lnTo>
                <a:lnTo>
                  <a:pt x="6283" y="17958544"/>
                </a:lnTo>
                <a:lnTo>
                  <a:pt x="0" y="17911784"/>
                </a:lnTo>
                <a:lnTo>
                  <a:pt x="0" y="175895"/>
                </a:lnTo>
                <a:close/>
              </a:path>
            </a:pathLst>
          </a:custGeom>
          <a:ln w="89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6005" y="38648"/>
            <a:ext cx="14048740" cy="1689735"/>
          </a:xfrm>
          <a:custGeom>
            <a:avLst/>
            <a:gdLst/>
            <a:ahLst/>
            <a:cxnLst/>
            <a:rect l="l" t="t" r="r" b="b"/>
            <a:pathLst>
              <a:path w="14048740" h="1689735">
                <a:moveTo>
                  <a:pt x="14048482" y="1689126"/>
                </a:moveTo>
                <a:lnTo>
                  <a:pt x="0" y="1689126"/>
                </a:lnTo>
                <a:lnTo>
                  <a:pt x="0" y="0"/>
                </a:lnTo>
                <a:lnTo>
                  <a:pt x="14048482" y="0"/>
                </a:lnTo>
                <a:lnTo>
                  <a:pt x="14048482" y="16891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6005" y="38648"/>
            <a:ext cx="14048740" cy="1689735"/>
          </a:xfrm>
          <a:custGeom>
            <a:avLst/>
            <a:gdLst/>
            <a:ahLst/>
            <a:cxnLst/>
            <a:rect l="l" t="t" r="r" b="b"/>
            <a:pathLst>
              <a:path w="14048740" h="1689735">
                <a:moveTo>
                  <a:pt x="0" y="0"/>
                </a:moveTo>
                <a:lnTo>
                  <a:pt x="14048482" y="0"/>
                </a:lnTo>
                <a:lnTo>
                  <a:pt x="14048482" y="1689126"/>
                </a:lnTo>
                <a:lnTo>
                  <a:pt x="0" y="1689126"/>
                </a:lnTo>
                <a:lnTo>
                  <a:pt x="0" y="0"/>
                </a:lnTo>
                <a:close/>
              </a:path>
            </a:pathLst>
          </a:custGeom>
          <a:ln w="89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882" y="804164"/>
            <a:ext cx="1279588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882" y="4623943"/>
            <a:ext cx="1279588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834001" y="18696814"/>
            <a:ext cx="454964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10882" y="18696814"/>
            <a:ext cx="327005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236708" y="18696814"/>
            <a:ext cx="327005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6524" y="27714"/>
            <a:ext cx="6427470" cy="1616075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2250" b="1">
                <a:solidFill>
                  <a:srgbClr val="002060"/>
                </a:solidFill>
                <a:latin typeface="Trebuchet MS"/>
                <a:cs typeface="Trebuchet MS"/>
              </a:rPr>
              <a:t>RV</a:t>
            </a:r>
            <a:r>
              <a:rPr dirty="0" sz="2250" spc="-40" b="1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dirty="0" sz="2250" b="1">
                <a:solidFill>
                  <a:srgbClr val="002060"/>
                </a:solidFill>
                <a:latin typeface="Trebuchet MS"/>
                <a:cs typeface="Trebuchet MS"/>
              </a:rPr>
              <a:t>College</a:t>
            </a:r>
            <a:r>
              <a:rPr dirty="0" sz="2250" spc="-40" b="1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dirty="0" sz="2250" b="1">
                <a:solidFill>
                  <a:srgbClr val="002060"/>
                </a:solidFill>
                <a:latin typeface="Trebuchet MS"/>
                <a:cs typeface="Trebuchet MS"/>
              </a:rPr>
              <a:t>of</a:t>
            </a:r>
            <a:r>
              <a:rPr dirty="0" sz="2250" spc="-40" b="1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dirty="0" sz="2250" b="1">
                <a:solidFill>
                  <a:srgbClr val="002060"/>
                </a:solidFill>
                <a:latin typeface="Trebuchet MS"/>
                <a:cs typeface="Trebuchet MS"/>
              </a:rPr>
              <a:t>Engineering,</a:t>
            </a:r>
            <a:r>
              <a:rPr dirty="0" sz="2250" spc="-40" b="1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dirty="0" sz="2250" b="1">
                <a:solidFill>
                  <a:srgbClr val="002060"/>
                </a:solidFill>
                <a:latin typeface="Trebuchet MS"/>
                <a:cs typeface="Trebuchet MS"/>
              </a:rPr>
              <a:t>Bengaluru</a:t>
            </a:r>
            <a:r>
              <a:rPr dirty="0" sz="2250" spc="-45" b="1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dirty="0" sz="2250" b="1">
                <a:solidFill>
                  <a:srgbClr val="002060"/>
                </a:solidFill>
                <a:latin typeface="Trebuchet MS"/>
                <a:cs typeface="Trebuchet MS"/>
              </a:rPr>
              <a:t>–</a:t>
            </a:r>
            <a:r>
              <a:rPr dirty="0" sz="2250" spc="-40" b="1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dirty="0" sz="2250" spc="-10" b="1">
                <a:solidFill>
                  <a:srgbClr val="002060"/>
                </a:solidFill>
                <a:latin typeface="Trebuchet MS"/>
                <a:cs typeface="Trebuchet MS"/>
              </a:rPr>
              <a:t>560059.</a:t>
            </a:r>
            <a:endParaRPr sz="2250">
              <a:latin typeface="Trebuchet MS"/>
              <a:cs typeface="Trebuchet MS"/>
            </a:endParaRPr>
          </a:p>
          <a:p>
            <a:pPr marL="326390">
              <a:lnSpc>
                <a:spcPct val="100000"/>
              </a:lnSpc>
              <a:spcBef>
                <a:spcPts val="1015"/>
              </a:spcBef>
            </a:pPr>
            <a:r>
              <a:rPr dirty="0" sz="1950" b="1">
                <a:solidFill>
                  <a:srgbClr val="833C0B"/>
                </a:solidFill>
                <a:latin typeface="Arial"/>
                <a:cs typeface="Arial"/>
              </a:rPr>
              <a:t>Title:</a:t>
            </a:r>
            <a:r>
              <a:rPr dirty="0" sz="1950" spc="-40" b="1">
                <a:solidFill>
                  <a:srgbClr val="833C0B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833C0B"/>
                </a:solidFill>
                <a:latin typeface="Arial"/>
                <a:cs typeface="Arial"/>
              </a:rPr>
              <a:t>Algorithmic</a:t>
            </a:r>
            <a:r>
              <a:rPr dirty="0" sz="1950" spc="45" b="1">
                <a:solidFill>
                  <a:srgbClr val="833C0B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833C0B"/>
                </a:solidFill>
                <a:latin typeface="Arial"/>
                <a:cs typeface="Arial"/>
              </a:rPr>
              <a:t>Financial</a:t>
            </a:r>
            <a:r>
              <a:rPr dirty="0" sz="1950" spc="40" b="1">
                <a:solidFill>
                  <a:srgbClr val="833C0B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833C0B"/>
                </a:solidFill>
                <a:latin typeface="Arial"/>
                <a:cs typeface="Arial"/>
              </a:rPr>
              <a:t>Flow</a:t>
            </a:r>
            <a:r>
              <a:rPr dirty="0" sz="1950" spc="-35" b="1">
                <a:solidFill>
                  <a:srgbClr val="833C0B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833C0B"/>
                </a:solidFill>
                <a:latin typeface="Arial"/>
                <a:cs typeface="Arial"/>
              </a:rPr>
              <a:t>Arbitration</a:t>
            </a:r>
            <a:r>
              <a:rPr dirty="0" sz="1950" spc="40" b="1">
                <a:solidFill>
                  <a:srgbClr val="833C0B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833C0B"/>
                </a:solidFill>
                <a:latin typeface="Arial"/>
                <a:cs typeface="Arial"/>
              </a:rPr>
              <a:t>Engine</a:t>
            </a:r>
            <a:endParaRPr sz="1950">
              <a:latin typeface="Arial"/>
              <a:cs typeface="Arial"/>
            </a:endParaRPr>
          </a:p>
          <a:p>
            <a:pPr marL="1833245" marR="1688464" indent="-91440">
              <a:lnSpc>
                <a:spcPct val="101699"/>
              </a:lnSpc>
              <a:spcBef>
                <a:spcPts val="805"/>
              </a:spcBef>
            </a:pPr>
            <a:r>
              <a:rPr dirty="0" sz="1850">
                <a:solidFill>
                  <a:srgbClr val="002060"/>
                </a:solidFill>
                <a:latin typeface="Times New Roman"/>
                <a:cs typeface="Times New Roman"/>
              </a:rPr>
              <a:t>Prarthana</a:t>
            </a:r>
            <a:r>
              <a:rPr dirty="0" sz="1850" spc="25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1850">
                <a:solidFill>
                  <a:srgbClr val="002060"/>
                </a:solidFill>
                <a:latin typeface="Times New Roman"/>
                <a:cs typeface="Times New Roman"/>
              </a:rPr>
              <a:t>Upadhyaya</a:t>
            </a:r>
            <a:r>
              <a:rPr dirty="0" sz="1850" spc="3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185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dirty="0" sz="1850" spc="3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1850">
                <a:solidFill>
                  <a:srgbClr val="002060"/>
                </a:solidFill>
                <a:latin typeface="Times New Roman"/>
                <a:cs typeface="Times New Roman"/>
              </a:rPr>
              <a:t>Rahul</a:t>
            </a:r>
            <a:r>
              <a:rPr dirty="0" sz="1850" spc="3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1850" spc="-50">
                <a:solidFill>
                  <a:srgbClr val="002060"/>
                </a:solidFill>
                <a:latin typeface="Times New Roman"/>
                <a:cs typeface="Times New Roman"/>
              </a:rPr>
              <a:t>P </a:t>
            </a:r>
            <a:r>
              <a:rPr dirty="0" sz="1850">
                <a:solidFill>
                  <a:srgbClr val="002060"/>
                </a:solidFill>
                <a:latin typeface="Times New Roman"/>
                <a:cs typeface="Times New Roman"/>
              </a:rPr>
              <a:t>1RV24CS202</a:t>
            </a:r>
            <a:r>
              <a:rPr dirty="0" sz="1850" spc="-25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185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dirty="0" sz="1850" spc="-25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1850" spc="-10">
                <a:solidFill>
                  <a:srgbClr val="002060"/>
                </a:solidFill>
                <a:latin typeface="Times New Roman"/>
                <a:cs typeface="Times New Roman"/>
              </a:rPr>
              <a:t>1RV24CS219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8237" y="1845971"/>
            <a:ext cx="7085330" cy="18100040"/>
            <a:chOff x="128237" y="1845971"/>
            <a:chExt cx="7085330" cy="18100040"/>
          </a:xfrm>
        </p:grpSpPr>
        <p:sp>
          <p:nvSpPr>
            <p:cNvPr id="4" name="object 4"/>
            <p:cNvSpPr/>
            <p:nvPr/>
          </p:nvSpPr>
          <p:spPr>
            <a:xfrm>
              <a:off x="134270" y="1852003"/>
              <a:ext cx="7073265" cy="18087975"/>
            </a:xfrm>
            <a:custGeom>
              <a:avLst/>
              <a:gdLst/>
              <a:ahLst/>
              <a:cxnLst/>
              <a:rect l="l" t="t" r="r" b="b"/>
              <a:pathLst>
                <a:path w="7073265" h="18087975">
                  <a:moveTo>
                    <a:pt x="6892208" y="18087711"/>
                  </a:moveTo>
                  <a:lnTo>
                    <a:pt x="180785" y="18087711"/>
                  </a:lnTo>
                  <a:lnTo>
                    <a:pt x="132725" y="18081253"/>
                  </a:lnTo>
                  <a:lnTo>
                    <a:pt x="89539" y="18063029"/>
                  </a:lnTo>
                  <a:lnTo>
                    <a:pt x="52950" y="18034760"/>
                  </a:lnTo>
                  <a:lnTo>
                    <a:pt x="24682" y="17998172"/>
                  </a:lnTo>
                  <a:lnTo>
                    <a:pt x="6457" y="17954985"/>
                  </a:lnTo>
                  <a:lnTo>
                    <a:pt x="0" y="17906925"/>
                  </a:lnTo>
                  <a:lnTo>
                    <a:pt x="0" y="180785"/>
                  </a:lnTo>
                  <a:lnTo>
                    <a:pt x="6457" y="132725"/>
                  </a:lnTo>
                  <a:lnTo>
                    <a:pt x="24682" y="89539"/>
                  </a:lnTo>
                  <a:lnTo>
                    <a:pt x="52950" y="52950"/>
                  </a:lnTo>
                  <a:lnTo>
                    <a:pt x="89539" y="24682"/>
                  </a:lnTo>
                  <a:lnTo>
                    <a:pt x="132725" y="6457"/>
                  </a:lnTo>
                  <a:lnTo>
                    <a:pt x="180785" y="0"/>
                  </a:lnTo>
                  <a:lnTo>
                    <a:pt x="6892208" y="0"/>
                  </a:lnTo>
                  <a:lnTo>
                    <a:pt x="6961391" y="13761"/>
                  </a:lnTo>
                  <a:lnTo>
                    <a:pt x="7020043" y="52951"/>
                  </a:lnTo>
                  <a:lnTo>
                    <a:pt x="7059232" y="111602"/>
                  </a:lnTo>
                  <a:lnTo>
                    <a:pt x="7072993" y="180785"/>
                  </a:lnTo>
                  <a:lnTo>
                    <a:pt x="7072993" y="17906925"/>
                  </a:lnTo>
                  <a:lnTo>
                    <a:pt x="7066536" y="17954985"/>
                  </a:lnTo>
                  <a:lnTo>
                    <a:pt x="7048311" y="17998172"/>
                  </a:lnTo>
                  <a:lnTo>
                    <a:pt x="7020043" y="18034760"/>
                  </a:lnTo>
                  <a:lnTo>
                    <a:pt x="6983454" y="18063029"/>
                  </a:lnTo>
                  <a:lnTo>
                    <a:pt x="6940268" y="18081253"/>
                  </a:lnTo>
                  <a:lnTo>
                    <a:pt x="6892208" y="180877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4270" y="1852003"/>
              <a:ext cx="7073265" cy="18087975"/>
            </a:xfrm>
            <a:custGeom>
              <a:avLst/>
              <a:gdLst/>
              <a:ahLst/>
              <a:cxnLst/>
              <a:rect l="l" t="t" r="r" b="b"/>
              <a:pathLst>
                <a:path w="7073265" h="18087975">
                  <a:moveTo>
                    <a:pt x="0" y="180785"/>
                  </a:moveTo>
                  <a:lnTo>
                    <a:pt x="6457" y="132725"/>
                  </a:lnTo>
                  <a:lnTo>
                    <a:pt x="24682" y="89539"/>
                  </a:lnTo>
                  <a:lnTo>
                    <a:pt x="52950" y="52950"/>
                  </a:lnTo>
                  <a:lnTo>
                    <a:pt x="89539" y="24682"/>
                  </a:lnTo>
                  <a:lnTo>
                    <a:pt x="132725" y="6457"/>
                  </a:lnTo>
                  <a:lnTo>
                    <a:pt x="180785" y="0"/>
                  </a:lnTo>
                  <a:lnTo>
                    <a:pt x="6892208" y="0"/>
                  </a:lnTo>
                  <a:lnTo>
                    <a:pt x="6961391" y="13761"/>
                  </a:lnTo>
                  <a:lnTo>
                    <a:pt x="7020043" y="52951"/>
                  </a:lnTo>
                  <a:lnTo>
                    <a:pt x="7059232" y="111602"/>
                  </a:lnTo>
                  <a:lnTo>
                    <a:pt x="7072993" y="180785"/>
                  </a:lnTo>
                  <a:lnTo>
                    <a:pt x="7072993" y="17906925"/>
                  </a:lnTo>
                  <a:lnTo>
                    <a:pt x="7066536" y="17954985"/>
                  </a:lnTo>
                  <a:lnTo>
                    <a:pt x="7048311" y="17998172"/>
                  </a:lnTo>
                  <a:lnTo>
                    <a:pt x="7020043" y="18034760"/>
                  </a:lnTo>
                  <a:lnTo>
                    <a:pt x="6983454" y="18063029"/>
                  </a:lnTo>
                  <a:lnTo>
                    <a:pt x="6940268" y="18081253"/>
                  </a:lnTo>
                  <a:lnTo>
                    <a:pt x="6892208" y="18087711"/>
                  </a:lnTo>
                  <a:lnTo>
                    <a:pt x="180785" y="18087711"/>
                  </a:lnTo>
                  <a:lnTo>
                    <a:pt x="132725" y="18081253"/>
                  </a:lnTo>
                  <a:lnTo>
                    <a:pt x="89539" y="18063029"/>
                  </a:lnTo>
                  <a:lnTo>
                    <a:pt x="52950" y="18034760"/>
                  </a:lnTo>
                  <a:lnTo>
                    <a:pt x="24682" y="17998172"/>
                  </a:lnTo>
                  <a:lnTo>
                    <a:pt x="6457" y="17954985"/>
                  </a:lnTo>
                  <a:lnTo>
                    <a:pt x="0" y="17906925"/>
                  </a:lnTo>
                  <a:lnTo>
                    <a:pt x="0" y="180785"/>
                  </a:lnTo>
                  <a:close/>
                </a:path>
              </a:pathLst>
            </a:custGeom>
            <a:ln w="11945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27919" y="8241738"/>
            <a:ext cx="69081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29259" algn="l"/>
              </a:tabLst>
            </a:pP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1.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Develop</a:t>
            </a:r>
            <a:r>
              <a:rPr dirty="0" sz="1700" spc="254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700" spc="2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high-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performance</a:t>
            </a:r>
            <a:r>
              <a:rPr dirty="0" sz="1700" spc="2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700" spc="254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routing</a:t>
            </a:r>
            <a:r>
              <a:rPr dirty="0" sz="1700" spc="2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engine</a:t>
            </a:r>
            <a:r>
              <a:rPr dirty="0" sz="1700" spc="2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capable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5039" y="8538461"/>
            <a:ext cx="648144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6235" algn="l"/>
                <a:tab pos="1693545" algn="l"/>
                <a:tab pos="2637790" algn="l"/>
                <a:tab pos="4156075" algn="l"/>
                <a:tab pos="5139055" algn="l"/>
                <a:tab pos="5887085" algn="l"/>
              </a:tabLst>
            </a:pPr>
            <a:r>
              <a:rPr dirty="0" sz="1700" spc="-25">
                <a:solidFill>
                  <a:srgbClr val="002060"/>
                </a:solidFill>
                <a:latin typeface="Cambria"/>
                <a:cs typeface="Cambria"/>
              </a:rPr>
              <a:t>of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discovering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optimal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international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transfer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14">
                <a:solidFill>
                  <a:srgbClr val="002060"/>
                </a:solidFill>
                <a:latin typeface="Cambria"/>
                <a:cs typeface="Cambria"/>
              </a:rPr>
              <a:t>paths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using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919" y="8796482"/>
            <a:ext cx="6894830" cy="12128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just" marL="429259">
              <a:lnSpc>
                <a:spcPct val="100000"/>
              </a:lnSpc>
              <a:spcBef>
                <a:spcPts val="395"/>
              </a:spcBef>
            </a:pP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graph-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based</a:t>
            </a:r>
            <a:r>
              <a:rPr dirty="0" sz="1700" spc="20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algorithms.</a:t>
            </a:r>
            <a:endParaRPr sz="1700">
              <a:latin typeface="Cambria"/>
              <a:cs typeface="Cambria"/>
            </a:endParaRPr>
          </a:p>
          <a:p>
            <a:pPr algn="just" marL="429259" marR="5080" indent="-417195">
              <a:lnSpc>
                <a:spcPct val="114500"/>
              </a:lnSpc>
            </a:pPr>
            <a:r>
              <a:rPr dirty="0" sz="1700" spc="145">
                <a:solidFill>
                  <a:srgbClr val="002060"/>
                </a:solidFill>
                <a:latin typeface="Cambria"/>
                <a:cs typeface="Cambria"/>
              </a:rPr>
              <a:t>2.</a:t>
            </a:r>
            <a:r>
              <a:rPr dirty="0" sz="1700" spc="48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Model</a:t>
            </a:r>
            <a:r>
              <a:rPr dirty="0" sz="1700" spc="30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global</a:t>
            </a:r>
            <a:r>
              <a:rPr dirty="0" sz="1700" spc="30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700" spc="30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networks</a:t>
            </a:r>
            <a:r>
              <a:rPr dirty="0" sz="1700" spc="30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002060"/>
                </a:solidFill>
                <a:latin typeface="Cambria"/>
                <a:cs typeface="Cambria"/>
              </a:rPr>
              <a:t>as</a:t>
            </a:r>
            <a:r>
              <a:rPr dirty="0" sz="1700" spc="30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directed</a:t>
            </a:r>
            <a:r>
              <a:rPr dirty="0" sz="1700" spc="30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weighted</a:t>
            </a:r>
            <a:r>
              <a:rPr dirty="0" sz="1700" spc="30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graphs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apply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215">
                <a:solidFill>
                  <a:srgbClr val="002060"/>
                </a:solidFill>
                <a:latin typeface="Cambria"/>
                <a:cs typeface="Cambria"/>
              </a:rPr>
              <a:t>DFS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with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Dijkstra's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algorithm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to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compute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the 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lowest-cost</a:t>
            </a:r>
            <a:r>
              <a:rPr dirty="0" sz="17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transaction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route.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919" y="9983376"/>
            <a:ext cx="6898640" cy="61912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r" marR="9525">
              <a:lnSpc>
                <a:spcPct val="100000"/>
              </a:lnSpc>
              <a:spcBef>
                <a:spcPts val="395"/>
              </a:spcBef>
              <a:tabLst>
                <a:tab pos="416559" algn="l"/>
                <a:tab pos="1191260" algn="l"/>
                <a:tab pos="1522730" algn="l"/>
                <a:tab pos="2971800" algn="l"/>
                <a:tab pos="4408805" algn="l"/>
                <a:tab pos="5303520" algn="l"/>
                <a:tab pos="5940425" algn="l"/>
              </a:tabLst>
            </a:pP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3.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Build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transparent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explanation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engine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that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validates</a:t>
            </a:r>
            <a:endParaRPr sz="170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300"/>
              </a:spcBef>
            </a:pP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routing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039" y="10280100"/>
            <a:ext cx="5376545" cy="619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  <a:tabLst>
                <a:tab pos="1537970" algn="l"/>
                <a:tab pos="2276475" algn="l"/>
                <a:tab pos="3621404" algn="l"/>
              </a:tabLst>
            </a:pP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constraints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14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generates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45">
                <a:solidFill>
                  <a:srgbClr val="002060"/>
                </a:solidFill>
                <a:latin typeface="Cambria"/>
                <a:cs typeface="Cambria"/>
              </a:rPr>
              <a:t>human-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readable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decisions.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919" y="10873547"/>
            <a:ext cx="6896100" cy="619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9259" marR="5080" indent="-417195">
              <a:lnSpc>
                <a:spcPct val="114500"/>
              </a:lnSpc>
              <a:spcBef>
                <a:spcPts val="100"/>
              </a:spcBef>
              <a:tabLst>
                <a:tab pos="429259" algn="l"/>
                <a:tab pos="1399540" algn="l"/>
                <a:tab pos="1668780" algn="l"/>
                <a:tab pos="2928620" algn="l"/>
                <a:tab pos="4191000" algn="l"/>
                <a:tab pos="4791710" algn="l"/>
                <a:tab pos="5492115" algn="l"/>
              </a:tabLst>
            </a:pP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4.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Develop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responsive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dashboard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40">
                <a:solidFill>
                  <a:srgbClr val="002060"/>
                </a:solidFill>
                <a:latin typeface="Cambria"/>
                <a:cs typeface="Cambria"/>
              </a:rPr>
              <a:t>with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route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visualization,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cost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analysis,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transaction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history.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689" y="2029673"/>
            <a:ext cx="6829425" cy="316865"/>
          </a:xfrm>
          <a:prstGeom prst="rect">
            <a:avLst/>
          </a:prstGeom>
          <a:solidFill>
            <a:srgbClr val="FFC000"/>
          </a:solidFill>
          <a:ln w="8959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 marR="292100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002060"/>
                </a:solidFill>
                <a:latin typeface="Comic Sans MS"/>
                <a:cs typeface="Comic Sans MS"/>
              </a:rPr>
              <a:t>Introduction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1828" y="11868663"/>
            <a:ext cx="6958330" cy="303530"/>
          </a:xfrm>
          <a:prstGeom prst="rect">
            <a:avLst/>
          </a:prstGeom>
          <a:solidFill>
            <a:srgbClr val="FFC000"/>
          </a:solidFill>
          <a:ln w="8959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 marR="412115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002060"/>
                </a:solidFill>
                <a:latin typeface="Comic Sans MS"/>
                <a:cs typeface="Comic Sans MS"/>
              </a:rPr>
              <a:t>Methodology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37663" y="2017870"/>
            <a:ext cx="6675755" cy="303530"/>
          </a:xfrm>
          <a:prstGeom prst="rect">
            <a:avLst/>
          </a:prstGeom>
          <a:solidFill>
            <a:srgbClr val="FFC000"/>
          </a:solidFill>
          <a:ln w="8959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002060"/>
                </a:solidFill>
                <a:latin typeface="Comic Sans MS"/>
                <a:cs typeface="Comic Sans MS"/>
              </a:rPr>
              <a:t>Tools</a:t>
            </a:r>
            <a:r>
              <a:rPr dirty="0" sz="1700" spc="35" b="1">
                <a:solidFill>
                  <a:srgbClr val="002060"/>
                </a:solidFill>
                <a:latin typeface="Comic Sans MS"/>
                <a:cs typeface="Comic Sans MS"/>
              </a:rPr>
              <a:t> </a:t>
            </a:r>
            <a:r>
              <a:rPr dirty="0" sz="1700" b="1">
                <a:solidFill>
                  <a:srgbClr val="002060"/>
                </a:solidFill>
                <a:latin typeface="Comic Sans MS"/>
                <a:cs typeface="Comic Sans MS"/>
              </a:rPr>
              <a:t>and</a:t>
            </a:r>
            <a:r>
              <a:rPr dirty="0" sz="1700" spc="40" b="1">
                <a:solidFill>
                  <a:srgbClr val="002060"/>
                </a:solidFill>
                <a:latin typeface="Comic Sans MS"/>
                <a:cs typeface="Comic Sans MS"/>
              </a:rPr>
              <a:t> </a:t>
            </a:r>
            <a:r>
              <a:rPr dirty="0" sz="1700" b="1">
                <a:solidFill>
                  <a:srgbClr val="002060"/>
                </a:solidFill>
                <a:latin typeface="Comic Sans MS"/>
                <a:cs typeface="Comic Sans MS"/>
              </a:rPr>
              <a:t>Techniques</a:t>
            </a:r>
            <a:r>
              <a:rPr dirty="0" sz="1700" spc="40" b="1">
                <a:solidFill>
                  <a:srgbClr val="002060"/>
                </a:solidFill>
                <a:latin typeface="Comic Sans MS"/>
                <a:cs typeface="Comic Sans MS"/>
              </a:rPr>
              <a:t> </a:t>
            </a:r>
            <a:r>
              <a:rPr dirty="0" sz="1700" spc="-20" b="1">
                <a:solidFill>
                  <a:srgbClr val="002060"/>
                </a:solidFill>
                <a:latin typeface="Comic Sans MS"/>
                <a:cs typeface="Comic Sans MS"/>
              </a:rPr>
              <a:t>used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15813" y="5090201"/>
            <a:ext cx="6675755" cy="303530"/>
          </a:xfrm>
          <a:prstGeom prst="rect">
            <a:avLst/>
          </a:prstGeom>
          <a:solidFill>
            <a:srgbClr val="FFC000"/>
          </a:solidFill>
          <a:ln w="8959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002060"/>
                </a:solidFill>
                <a:latin typeface="Comic Sans MS"/>
                <a:cs typeface="Comic Sans MS"/>
              </a:rPr>
              <a:t>Algorithms</a:t>
            </a:r>
            <a:r>
              <a:rPr dirty="0" sz="1700" spc="50" b="1">
                <a:solidFill>
                  <a:srgbClr val="002060"/>
                </a:solidFill>
                <a:latin typeface="Comic Sans MS"/>
                <a:cs typeface="Comic Sans MS"/>
              </a:rPr>
              <a:t> </a:t>
            </a:r>
            <a:r>
              <a:rPr dirty="0" sz="1700" spc="-20" b="1">
                <a:solidFill>
                  <a:srgbClr val="002060"/>
                </a:solidFill>
                <a:latin typeface="Comic Sans MS"/>
                <a:cs typeface="Comic Sans MS"/>
              </a:rPr>
              <a:t>Used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15807" y="17279926"/>
            <a:ext cx="6675755" cy="326390"/>
          </a:xfrm>
          <a:prstGeom prst="rect">
            <a:avLst/>
          </a:prstGeom>
          <a:solidFill>
            <a:srgbClr val="FFC000"/>
          </a:solidFill>
          <a:ln w="8959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850" spc="-10" b="1">
                <a:solidFill>
                  <a:srgbClr val="002060"/>
                </a:solidFill>
                <a:latin typeface="Comic Sans MS"/>
                <a:cs typeface="Comic Sans MS"/>
              </a:rPr>
              <a:t>References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46381" y="83748"/>
            <a:ext cx="1799589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i="1">
                <a:solidFill>
                  <a:srgbClr val="422C75"/>
                </a:solidFill>
                <a:latin typeface="Times New Roman"/>
                <a:cs typeface="Times New Roman"/>
              </a:rPr>
              <a:t>Go,</a:t>
            </a:r>
            <a:r>
              <a:rPr dirty="0" sz="1550" spc="45" i="1">
                <a:solidFill>
                  <a:srgbClr val="422C75"/>
                </a:solidFill>
                <a:latin typeface="Times New Roman"/>
                <a:cs typeface="Times New Roman"/>
              </a:rPr>
              <a:t> </a:t>
            </a:r>
            <a:r>
              <a:rPr dirty="0" sz="1550" i="1">
                <a:solidFill>
                  <a:srgbClr val="422C75"/>
                </a:solidFill>
                <a:latin typeface="Times New Roman"/>
                <a:cs typeface="Times New Roman"/>
              </a:rPr>
              <a:t>change</a:t>
            </a:r>
            <a:r>
              <a:rPr dirty="0" sz="1550" spc="45" i="1">
                <a:solidFill>
                  <a:srgbClr val="422C75"/>
                </a:solidFill>
                <a:latin typeface="Times New Roman"/>
                <a:cs typeface="Times New Roman"/>
              </a:rPr>
              <a:t> </a:t>
            </a:r>
            <a:r>
              <a:rPr dirty="0" sz="1550" spc="50" i="1">
                <a:solidFill>
                  <a:srgbClr val="422C75"/>
                </a:solidFill>
                <a:latin typeface="Times New Roman"/>
                <a:cs typeface="Times New Roman"/>
              </a:rPr>
              <a:t>the </a:t>
            </a:r>
            <a:r>
              <a:rPr dirty="0" sz="1550" spc="-10" i="1">
                <a:solidFill>
                  <a:srgbClr val="422C75"/>
                </a:solidFill>
                <a:latin typeface="Times New Roman"/>
                <a:cs typeface="Times New Roman"/>
              </a:rPr>
              <a:t>world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6317" y="7803303"/>
            <a:ext cx="6829425" cy="303530"/>
          </a:xfrm>
          <a:prstGeom prst="rect">
            <a:avLst/>
          </a:prstGeom>
          <a:solidFill>
            <a:srgbClr val="FFC000"/>
          </a:solidFill>
          <a:ln w="8959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 marR="473075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002060"/>
                </a:solidFill>
                <a:latin typeface="Comic Sans MS"/>
                <a:cs typeface="Comic Sans MS"/>
              </a:rPr>
              <a:t>Objectives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8942" y="2429535"/>
            <a:ext cx="6543040" cy="9156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Finova</a:t>
            </a:r>
            <a:r>
              <a:rPr dirty="0" sz="1700" spc="3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is</a:t>
            </a:r>
            <a:r>
              <a:rPr dirty="0" sz="1700" spc="35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700" spc="35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multi-</a:t>
            </a:r>
            <a:r>
              <a:rPr dirty="0" sz="1700" spc="114">
                <a:solidFill>
                  <a:srgbClr val="002060"/>
                </a:solidFill>
                <a:latin typeface="Cambria"/>
                <a:cs typeface="Cambria"/>
              </a:rPr>
              <a:t>hop</a:t>
            </a:r>
            <a:r>
              <a:rPr dirty="0" sz="1700" spc="3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700" spc="3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routing</a:t>
            </a:r>
            <a:r>
              <a:rPr dirty="0" sz="1700" spc="35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engine</a:t>
            </a:r>
            <a:r>
              <a:rPr dirty="0" sz="1700" spc="3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that</a:t>
            </a:r>
            <a:r>
              <a:rPr dirty="0" sz="1700" spc="3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002060"/>
                </a:solidFill>
                <a:latin typeface="Cambria"/>
                <a:cs typeface="Cambria"/>
              </a:rPr>
              <a:t>identifies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the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cheapest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cross-border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transfer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25">
                <a:solidFill>
                  <a:srgbClr val="002060"/>
                </a:solidFill>
                <a:latin typeface="Cambria"/>
                <a:cs typeface="Cambria"/>
              </a:rPr>
              <a:t>paths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by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modeling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the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global</a:t>
            </a:r>
            <a:r>
              <a:rPr dirty="0" sz="1700" spc="34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700" spc="3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network</a:t>
            </a:r>
            <a:r>
              <a:rPr dirty="0" sz="1700" spc="3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002060"/>
                </a:solidFill>
                <a:latin typeface="Cambria"/>
                <a:cs typeface="Cambria"/>
              </a:rPr>
              <a:t>as</a:t>
            </a:r>
            <a:r>
              <a:rPr dirty="0" sz="1700" spc="34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700" spc="3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directed</a:t>
            </a:r>
            <a:r>
              <a:rPr dirty="0" sz="1700" spc="3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weighted</a:t>
            </a:r>
            <a:r>
              <a:rPr dirty="0" sz="1700" spc="34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4">
                <a:solidFill>
                  <a:srgbClr val="002060"/>
                </a:solidFill>
                <a:latin typeface="Cambria"/>
                <a:cs typeface="Cambria"/>
              </a:rPr>
              <a:t>graph.</a:t>
            </a:r>
            <a:r>
              <a:rPr dirty="0" sz="1700" spc="3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Using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8942" y="3319708"/>
            <a:ext cx="6556375" cy="18059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depth-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limited</a:t>
            </a:r>
            <a:r>
              <a:rPr dirty="0" sz="1700" spc="33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215">
                <a:solidFill>
                  <a:srgbClr val="002060"/>
                </a:solidFill>
                <a:latin typeface="Cambria"/>
                <a:cs typeface="Cambria"/>
              </a:rPr>
              <a:t>DFS</a:t>
            </a:r>
            <a:r>
              <a:rPr dirty="0" sz="1700" spc="33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33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Dijkstra's</a:t>
            </a:r>
            <a:r>
              <a:rPr dirty="0" sz="1700" spc="33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algorithm,</a:t>
            </a:r>
            <a:r>
              <a:rPr dirty="0" sz="1700" spc="33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it</a:t>
            </a:r>
            <a:r>
              <a:rPr dirty="0" sz="1700" spc="33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discovers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cost-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effective</a:t>
            </a:r>
            <a:r>
              <a:rPr dirty="0" sz="1700" spc="16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routes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through</a:t>
            </a:r>
            <a:r>
              <a:rPr dirty="0" sz="1700" spc="16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intermediate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currencies</a:t>
            </a:r>
            <a:r>
              <a:rPr dirty="0" sz="1700" spc="16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35">
                <a:solidFill>
                  <a:srgbClr val="002060"/>
                </a:solidFill>
                <a:latin typeface="Cambria"/>
                <a:cs typeface="Cambria"/>
              </a:rPr>
              <a:t>while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validating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them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against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live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exchange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rates,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provider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limits,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user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KYC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tiers.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The</a:t>
            </a:r>
            <a:r>
              <a:rPr dirty="0" sz="1700" spc="12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system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55">
                <a:solidFill>
                  <a:srgbClr val="002060"/>
                </a:solidFill>
                <a:latin typeface="Cambria"/>
                <a:cs typeface="Cambria"/>
              </a:rPr>
              <a:t>delivers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low-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latency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route optimization</a:t>
            </a:r>
            <a:r>
              <a:rPr dirty="0" sz="1700" spc="375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with</a:t>
            </a:r>
            <a:r>
              <a:rPr dirty="0" sz="1700" spc="375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transparent</a:t>
            </a:r>
            <a:r>
              <a:rPr dirty="0" sz="1700" spc="375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cost</a:t>
            </a:r>
            <a:r>
              <a:rPr dirty="0" sz="1700" spc="375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breakdowns</a:t>
            </a:r>
            <a:r>
              <a:rPr dirty="0" sz="1700" spc="380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and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rule-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based</a:t>
            </a:r>
            <a:r>
              <a:rPr dirty="0" sz="1700" spc="1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explanations</a:t>
            </a:r>
            <a:r>
              <a:rPr dirty="0" sz="1700" spc="1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for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international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payments.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6312" y="5189888"/>
            <a:ext cx="6829425" cy="303530"/>
          </a:xfrm>
          <a:prstGeom prst="rect">
            <a:avLst/>
          </a:prstGeom>
          <a:solidFill>
            <a:srgbClr val="FFC000"/>
          </a:solidFill>
          <a:ln w="8959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 marL="332105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002060"/>
                </a:solidFill>
                <a:latin typeface="Comic Sans MS"/>
                <a:cs typeface="Comic Sans MS"/>
              </a:rPr>
              <a:t>Problem</a:t>
            </a:r>
            <a:r>
              <a:rPr dirty="0" sz="1700" spc="40" b="1">
                <a:solidFill>
                  <a:srgbClr val="002060"/>
                </a:solidFill>
                <a:latin typeface="Comic Sans MS"/>
                <a:cs typeface="Comic Sans MS"/>
              </a:rPr>
              <a:t> </a:t>
            </a:r>
            <a:r>
              <a:rPr dirty="0" sz="1700" spc="-10" b="1">
                <a:solidFill>
                  <a:srgbClr val="002060"/>
                </a:solidFill>
                <a:latin typeface="Comic Sans MS"/>
                <a:cs typeface="Comic Sans MS"/>
              </a:rPr>
              <a:t>Definition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3296" y="5548931"/>
            <a:ext cx="6717665" cy="619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1700" spc="114">
                <a:solidFill>
                  <a:srgbClr val="002060"/>
                </a:solidFill>
                <a:latin typeface="Cambria"/>
                <a:cs typeface="Cambria"/>
              </a:rPr>
              <a:t>Current</a:t>
            </a:r>
            <a:r>
              <a:rPr dirty="0" sz="1700" spc="459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international</a:t>
            </a:r>
            <a:r>
              <a:rPr dirty="0" sz="1700" spc="4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700" spc="4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4">
                <a:solidFill>
                  <a:srgbClr val="002060"/>
                </a:solidFill>
                <a:latin typeface="Cambria"/>
                <a:cs typeface="Cambria"/>
              </a:rPr>
              <a:t>systems</a:t>
            </a:r>
            <a:r>
              <a:rPr dirty="0" sz="1700" spc="4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rely</a:t>
            </a:r>
            <a:r>
              <a:rPr dirty="0" sz="1700" spc="4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on</a:t>
            </a:r>
            <a:r>
              <a:rPr dirty="0" sz="1700" spc="4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fixed</a:t>
            </a:r>
            <a:r>
              <a:rPr dirty="0" sz="1700" spc="4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002060"/>
                </a:solidFill>
                <a:latin typeface="Cambria"/>
                <a:cs typeface="Cambria"/>
              </a:rPr>
              <a:t>provider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networks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direct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  currency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conversions,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often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resulting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in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3296" y="6142378"/>
            <a:ext cx="6723380" cy="150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high</a:t>
            </a:r>
            <a:r>
              <a:rPr dirty="0" sz="1700" spc="415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204">
                <a:solidFill>
                  <a:srgbClr val="002060"/>
                </a:solidFill>
                <a:latin typeface="Cambria"/>
                <a:cs typeface="Cambria"/>
              </a:rPr>
              <a:t>FX</a:t>
            </a:r>
            <a:r>
              <a:rPr dirty="0" sz="1700" spc="420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spreads,</a:t>
            </a:r>
            <a:r>
              <a:rPr dirty="0" sz="1700" spc="415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intermediary</a:t>
            </a:r>
            <a:r>
              <a:rPr dirty="0" sz="1700" spc="420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fees,</a:t>
            </a:r>
            <a:r>
              <a:rPr dirty="0" sz="1700" spc="415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420">
                <a:solidFill>
                  <a:srgbClr val="002060"/>
                </a:solidFill>
                <a:latin typeface="Cambria"/>
                <a:cs typeface="Cambria"/>
              </a:rPr>
              <a:t>  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inefficient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cross-border</a:t>
            </a:r>
            <a:r>
              <a:rPr dirty="0" sz="1700" spc="2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transfers.</a:t>
            </a:r>
            <a:r>
              <a:rPr dirty="0" sz="1700" spc="2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This</a:t>
            </a:r>
            <a:r>
              <a:rPr dirty="0" sz="1700" spc="2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project</a:t>
            </a:r>
            <a:r>
              <a:rPr dirty="0" sz="1700" spc="2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addresses</a:t>
            </a:r>
            <a:r>
              <a:rPr dirty="0" sz="1700" spc="2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these</a:t>
            </a:r>
            <a:r>
              <a:rPr dirty="0" sz="1700" spc="2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limitations by</a:t>
            </a:r>
            <a:r>
              <a:rPr dirty="0" sz="1700" spc="14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using</a:t>
            </a:r>
            <a:r>
              <a:rPr dirty="0" sz="1700" spc="15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graph-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based</a:t>
            </a:r>
            <a:r>
              <a:rPr dirty="0" sz="1700" spc="15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route</a:t>
            </a:r>
            <a:r>
              <a:rPr dirty="0" sz="1700" spc="15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optimization</a:t>
            </a:r>
            <a:r>
              <a:rPr dirty="0" sz="1700" spc="15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with</a:t>
            </a:r>
            <a:r>
              <a:rPr dirty="0" sz="1700" spc="14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live</a:t>
            </a:r>
            <a:r>
              <a:rPr dirty="0" sz="1700" spc="15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exchange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rates</a:t>
            </a:r>
            <a:r>
              <a:rPr dirty="0" sz="1700" spc="2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2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provider</a:t>
            </a:r>
            <a:r>
              <a:rPr dirty="0" sz="1700" spc="2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constraints</a:t>
            </a:r>
            <a:r>
              <a:rPr dirty="0" sz="1700" spc="2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to</a:t>
            </a:r>
            <a:r>
              <a:rPr dirty="0" sz="1700" spc="2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002060"/>
                </a:solidFill>
                <a:latin typeface="Cambria"/>
                <a:cs typeface="Cambria"/>
              </a:rPr>
              <a:t>identify</a:t>
            </a:r>
            <a:r>
              <a:rPr dirty="0" sz="1700" spc="2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cheaper,</a:t>
            </a:r>
            <a:r>
              <a:rPr dirty="0" sz="1700" spc="2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transparent,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compliant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routes.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5372" y="15960323"/>
            <a:ext cx="6697980" cy="35864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9259" marR="5715" indent="-417195">
              <a:lnSpc>
                <a:spcPct val="114500"/>
              </a:lnSpc>
              <a:spcBef>
                <a:spcPts val="100"/>
              </a:spcBef>
              <a:buFont typeface="Cambria"/>
              <a:buAutoNum type="arabicPeriod"/>
              <a:tabLst>
                <a:tab pos="429259" algn="l"/>
              </a:tabLst>
            </a:pPr>
            <a:r>
              <a:rPr dirty="0" sz="1700" spc="85" b="1">
                <a:solidFill>
                  <a:srgbClr val="002060"/>
                </a:solidFill>
                <a:latin typeface="Cambria"/>
                <a:cs typeface="Cambria"/>
              </a:rPr>
              <a:t>Requirement</a:t>
            </a:r>
            <a:r>
              <a:rPr dirty="0" sz="1700" spc="305" b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5" b="1">
                <a:solidFill>
                  <a:srgbClr val="002060"/>
                </a:solidFill>
                <a:latin typeface="Cambria"/>
                <a:cs typeface="Cambria"/>
              </a:rPr>
              <a:t>Analysis:</a:t>
            </a:r>
            <a:r>
              <a:rPr dirty="0" sz="1700" spc="310" b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002060"/>
                </a:solidFill>
                <a:latin typeface="Cambria"/>
                <a:cs typeface="Cambria"/>
              </a:rPr>
              <a:t>Identified</a:t>
            </a:r>
            <a:r>
              <a:rPr dirty="0" sz="1700" spc="2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system</a:t>
            </a:r>
            <a:r>
              <a:rPr dirty="0" sz="1700" spc="2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requirements</a:t>
            </a:r>
            <a:r>
              <a:rPr dirty="0" sz="1700" spc="2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-25">
                <a:solidFill>
                  <a:srgbClr val="002060"/>
                </a:solidFill>
                <a:latin typeface="Cambria"/>
                <a:cs typeface="Cambria"/>
              </a:rPr>
              <a:t>for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real-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time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route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optimization.</a:t>
            </a:r>
            <a:endParaRPr sz="1700">
              <a:latin typeface="Cambria"/>
              <a:cs typeface="Cambria"/>
            </a:endParaRPr>
          </a:p>
          <a:p>
            <a:pPr marL="429259" marR="5080" indent="-417195">
              <a:lnSpc>
                <a:spcPct val="114500"/>
              </a:lnSpc>
              <a:buFont typeface="Cambria"/>
              <a:buAutoNum type="arabicPeriod"/>
              <a:tabLst>
                <a:tab pos="429259" algn="l"/>
              </a:tabLst>
            </a:pPr>
            <a:r>
              <a:rPr dirty="0" sz="1700" spc="145" b="1">
                <a:solidFill>
                  <a:srgbClr val="002060"/>
                </a:solidFill>
                <a:latin typeface="Cambria"/>
                <a:cs typeface="Cambria"/>
              </a:rPr>
              <a:t>System</a:t>
            </a:r>
            <a:r>
              <a:rPr dirty="0" sz="1700" spc="295" b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5" b="1">
                <a:solidFill>
                  <a:srgbClr val="002060"/>
                </a:solidFill>
                <a:latin typeface="Cambria"/>
                <a:cs typeface="Cambria"/>
              </a:rPr>
              <a:t>Design:</a:t>
            </a:r>
            <a:r>
              <a:rPr dirty="0" sz="1700" spc="265" b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Designed</a:t>
            </a:r>
            <a:r>
              <a:rPr dirty="0" sz="1700" spc="2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700" spc="2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graph-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based</a:t>
            </a:r>
            <a:r>
              <a:rPr dirty="0" sz="1700" spc="2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architecture</a:t>
            </a:r>
            <a:r>
              <a:rPr dirty="0" sz="1700" spc="2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40">
                <a:solidFill>
                  <a:srgbClr val="002060"/>
                </a:solidFill>
                <a:latin typeface="Cambria"/>
                <a:cs typeface="Cambria"/>
              </a:rPr>
              <a:t>with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FastAPI,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4">
                <a:solidFill>
                  <a:srgbClr val="002060"/>
                </a:solidFill>
                <a:latin typeface="Cambria"/>
                <a:cs typeface="Cambria"/>
              </a:rPr>
              <a:t>PostgreSQL,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React.</a:t>
            </a:r>
            <a:endParaRPr sz="1700">
              <a:latin typeface="Cambria"/>
              <a:cs typeface="Cambria"/>
            </a:endParaRPr>
          </a:p>
          <a:p>
            <a:pPr marL="429259" marR="60960" indent="-417195">
              <a:lnSpc>
                <a:spcPct val="114500"/>
              </a:lnSpc>
              <a:buFont typeface="Cambria"/>
              <a:buAutoNum type="arabicPeriod"/>
              <a:tabLst>
                <a:tab pos="429259" algn="l"/>
                <a:tab pos="1137920" algn="l"/>
                <a:tab pos="2547620" algn="l"/>
                <a:tab pos="3806190" algn="l"/>
                <a:tab pos="4347210" algn="l"/>
                <a:tab pos="5515610" algn="l"/>
                <a:tab pos="6228715" algn="l"/>
              </a:tabLst>
            </a:pPr>
            <a:r>
              <a:rPr dirty="0" sz="1700" spc="75" b="1">
                <a:solidFill>
                  <a:srgbClr val="002060"/>
                </a:solidFill>
                <a:latin typeface="Cambria"/>
                <a:cs typeface="Cambria"/>
              </a:rPr>
              <a:t>Data</a:t>
            </a:r>
            <a:r>
              <a:rPr dirty="0" sz="1700" b="1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0" b="1">
                <a:solidFill>
                  <a:srgbClr val="002060"/>
                </a:solidFill>
                <a:latin typeface="Cambria"/>
                <a:cs typeface="Cambria"/>
              </a:rPr>
              <a:t>Validation:</a:t>
            </a:r>
            <a:r>
              <a:rPr dirty="0" sz="1700" b="1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Integrated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-20">
                <a:solidFill>
                  <a:srgbClr val="002060"/>
                </a:solidFill>
                <a:latin typeface="Cambria"/>
                <a:cs typeface="Cambria"/>
              </a:rPr>
              <a:t>live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exchange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rates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and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validated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transaction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constraints.</a:t>
            </a:r>
            <a:endParaRPr sz="1700">
              <a:latin typeface="Cambria"/>
              <a:cs typeface="Cambria"/>
            </a:endParaRPr>
          </a:p>
          <a:p>
            <a:pPr marL="429259" marR="29845" indent="-417195">
              <a:lnSpc>
                <a:spcPct val="114500"/>
              </a:lnSpc>
              <a:buFont typeface="Cambria"/>
              <a:buAutoNum type="arabicPeriod"/>
              <a:tabLst>
                <a:tab pos="429259" algn="l"/>
              </a:tabLst>
            </a:pPr>
            <a:r>
              <a:rPr dirty="0" sz="1700" spc="90" b="1">
                <a:solidFill>
                  <a:srgbClr val="002060"/>
                </a:solidFill>
                <a:latin typeface="Cambria"/>
                <a:cs typeface="Cambria"/>
              </a:rPr>
              <a:t>Pathfinding:</a:t>
            </a:r>
            <a:r>
              <a:rPr dirty="0" sz="1700" spc="130" b="1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Implemented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215">
                <a:solidFill>
                  <a:srgbClr val="002060"/>
                </a:solidFill>
                <a:latin typeface="Cambria"/>
                <a:cs typeface="Cambria"/>
              </a:rPr>
              <a:t>DFS</a:t>
            </a:r>
            <a:r>
              <a:rPr dirty="0" sz="1700" spc="12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125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Dijkstra's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algorithm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for</a:t>
            </a:r>
            <a:r>
              <a:rPr dirty="0" sz="1700" spc="22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cost-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optimal</a:t>
            </a:r>
            <a:r>
              <a:rPr dirty="0" sz="1700" spc="22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routing.</a:t>
            </a:r>
            <a:endParaRPr sz="1700">
              <a:latin typeface="Cambria"/>
              <a:cs typeface="Cambria"/>
            </a:endParaRPr>
          </a:p>
          <a:p>
            <a:pPr marL="429259" marR="32384" indent="-417195">
              <a:lnSpc>
                <a:spcPct val="114500"/>
              </a:lnSpc>
              <a:spcBef>
                <a:spcPts val="5"/>
              </a:spcBef>
              <a:buFont typeface="Cambria"/>
              <a:buAutoNum type="arabicPeriod"/>
              <a:tabLst>
                <a:tab pos="429259" algn="l"/>
                <a:tab pos="2192020" algn="l"/>
                <a:tab pos="3407410" algn="l"/>
                <a:tab pos="4850765" algn="l"/>
                <a:tab pos="6101080" algn="l"/>
              </a:tabLst>
            </a:pPr>
            <a:r>
              <a:rPr dirty="0" sz="1700" spc="75" b="1">
                <a:solidFill>
                  <a:srgbClr val="002060"/>
                </a:solidFill>
                <a:latin typeface="Cambria"/>
                <a:cs typeface="Cambria"/>
              </a:rPr>
              <a:t>Explainability:</a:t>
            </a:r>
            <a:r>
              <a:rPr dirty="0" sz="1700" b="1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Generated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transparent,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rule-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based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route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explanations.</a:t>
            </a:r>
            <a:endParaRPr sz="1700">
              <a:latin typeface="Cambria"/>
              <a:cs typeface="Cambria"/>
            </a:endParaRPr>
          </a:p>
          <a:p>
            <a:pPr marL="429259" marR="45085" indent="-417195">
              <a:lnSpc>
                <a:spcPct val="114500"/>
              </a:lnSpc>
              <a:buFont typeface="Cambria"/>
              <a:buAutoNum type="arabicPeriod"/>
              <a:tabLst>
                <a:tab pos="429259" algn="l"/>
                <a:tab pos="1708785" algn="l"/>
                <a:tab pos="2952750" algn="l"/>
                <a:tab pos="3251200" algn="l"/>
                <a:tab pos="4539615" algn="l"/>
                <a:tab pos="5631180" algn="l"/>
                <a:tab pos="6088380" algn="l"/>
              </a:tabLst>
            </a:pPr>
            <a:r>
              <a:rPr dirty="0" sz="1700" spc="85" b="1">
                <a:solidFill>
                  <a:srgbClr val="002060"/>
                </a:solidFill>
                <a:latin typeface="Cambria"/>
                <a:cs typeface="Cambria"/>
              </a:rPr>
              <a:t>Frontend:</a:t>
            </a:r>
            <a:r>
              <a:rPr dirty="0" sz="1700" b="1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Developed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responsive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interface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-25">
                <a:solidFill>
                  <a:srgbClr val="002060"/>
                </a:solidFill>
                <a:latin typeface="Cambria"/>
                <a:cs typeface="Cambria"/>
              </a:rPr>
              <a:t>for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	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route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visualization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cost</a:t>
            </a:r>
            <a:r>
              <a:rPr dirty="0" sz="17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analysis.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70276" y="2378359"/>
            <a:ext cx="6470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55">
                <a:solidFill>
                  <a:srgbClr val="002060"/>
                </a:solidFill>
                <a:latin typeface="Cambria"/>
                <a:cs typeface="Cambria"/>
              </a:rPr>
              <a:t>Tools: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55421" y="2636380"/>
            <a:ext cx="2287905" cy="23221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7505" indent="-344805">
              <a:lnSpc>
                <a:spcPts val="2035"/>
              </a:lnSpc>
              <a:spcBef>
                <a:spcPts val="90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FastAPI</a:t>
            </a:r>
            <a:endParaRPr sz="1700">
              <a:latin typeface="Cambria"/>
              <a:cs typeface="Cambria"/>
            </a:endParaRPr>
          </a:p>
          <a:p>
            <a:pPr marL="357505" indent="-344805">
              <a:lnSpc>
                <a:spcPts val="2035"/>
              </a:lnSpc>
              <a:buFont typeface="Arial MT"/>
              <a:buChar char="●"/>
              <a:tabLst>
                <a:tab pos="357505" algn="l"/>
              </a:tabLst>
            </a:pP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PostgreSQL</a:t>
            </a:r>
            <a:endParaRPr sz="1700">
              <a:latin typeface="Cambria"/>
              <a:cs typeface="Cambria"/>
            </a:endParaRPr>
          </a:p>
          <a:p>
            <a:pPr marL="357505" indent="-344805">
              <a:lnSpc>
                <a:spcPct val="100000"/>
              </a:lnSpc>
              <a:spcBef>
                <a:spcPts val="300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NetworkX</a:t>
            </a:r>
            <a:endParaRPr sz="1700">
              <a:latin typeface="Cambria"/>
              <a:cs typeface="Cambria"/>
            </a:endParaRPr>
          </a:p>
          <a:p>
            <a:pPr marL="357505" indent="-344805">
              <a:lnSpc>
                <a:spcPct val="100000"/>
              </a:lnSpc>
              <a:spcBef>
                <a:spcPts val="295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125">
                <a:solidFill>
                  <a:srgbClr val="002060"/>
                </a:solidFill>
                <a:latin typeface="Cambria"/>
                <a:cs typeface="Cambria"/>
              </a:rPr>
              <a:t>ExchangeRate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30">
                <a:solidFill>
                  <a:srgbClr val="002060"/>
                </a:solidFill>
                <a:latin typeface="Cambria"/>
                <a:cs typeface="Cambria"/>
              </a:rPr>
              <a:t>API</a:t>
            </a:r>
            <a:endParaRPr sz="1700">
              <a:latin typeface="Cambria"/>
              <a:cs typeface="Cambria"/>
            </a:endParaRPr>
          </a:p>
          <a:p>
            <a:pPr marL="357505" indent="-344805">
              <a:lnSpc>
                <a:spcPct val="100000"/>
              </a:lnSpc>
              <a:spcBef>
                <a:spcPts val="295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React</a:t>
            </a:r>
            <a:endParaRPr sz="1700">
              <a:latin typeface="Cambria"/>
              <a:cs typeface="Cambria"/>
            </a:endParaRPr>
          </a:p>
          <a:p>
            <a:pPr marL="357505" indent="-344805">
              <a:lnSpc>
                <a:spcPct val="100000"/>
              </a:lnSpc>
              <a:spcBef>
                <a:spcPts val="295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Tailwind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250">
                <a:solidFill>
                  <a:srgbClr val="002060"/>
                </a:solidFill>
                <a:latin typeface="Cambria"/>
                <a:cs typeface="Cambria"/>
              </a:rPr>
              <a:t>CSS</a:t>
            </a:r>
            <a:endParaRPr sz="1700">
              <a:latin typeface="Cambria"/>
              <a:cs typeface="Cambria"/>
            </a:endParaRPr>
          </a:p>
          <a:p>
            <a:pPr marL="357505" indent="-344805">
              <a:lnSpc>
                <a:spcPct val="100000"/>
              </a:lnSpc>
              <a:spcBef>
                <a:spcPts val="300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Recharts</a:t>
            </a:r>
            <a:endParaRPr sz="1700">
              <a:latin typeface="Cambria"/>
              <a:cs typeface="Cambria"/>
            </a:endParaRPr>
          </a:p>
          <a:p>
            <a:pPr marL="357505" indent="-344805">
              <a:lnSpc>
                <a:spcPct val="100000"/>
              </a:lnSpc>
              <a:spcBef>
                <a:spcPts val="295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Axios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02757" y="17697380"/>
            <a:ext cx="6610984" cy="20758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267970" indent="-344805">
              <a:lnSpc>
                <a:spcPct val="101899"/>
              </a:lnSpc>
              <a:spcBef>
                <a:spcPts val="95"/>
              </a:spcBef>
              <a:buFont typeface="Arial MT"/>
              <a:buAutoNum type="arabicPeriod"/>
              <a:tabLst>
                <a:tab pos="356870" algn="l"/>
              </a:tabLst>
            </a:pPr>
            <a:r>
              <a:rPr dirty="0" sz="1200" spc="95">
                <a:solidFill>
                  <a:srgbClr val="002060"/>
                </a:solidFill>
                <a:latin typeface="Cambria"/>
                <a:cs typeface="Cambria"/>
              </a:rPr>
              <a:t>Velmurugan,</a:t>
            </a:r>
            <a:r>
              <a:rPr dirty="0" sz="1200" spc="14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30">
                <a:solidFill>
                  <a:srgbClr val="002060"/>
                </a:solidFill>
                <a:latin typeface="Cambria"/>
                <a:cs typeface="Cambria"/>
              </a:rPr>
              <a:t>R.,</a:t>
            </a:r>
            <a:r>
              <a:rPr dirty="0" sz="1200" spc="1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&amp;</a:t>
            </a:r>
            <a:r>
              <a:rPr dirty="0" sz="1200" spc="15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90">
                <a:solidFill>
                  <a:srgbClr val="002060"/>
                </a:solidFill>
                <a:latin typeface="Cambria"/>
                <a:cs typeface="Cambria"/>
              </a:rPr>
              <a:t>Reeba,</a:t>
            </a:r>
            <a:r>
              <a:rPr dirty="0" sz="1200" spc="1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55">
                <a:solidFill>
                  <a:srgbClr val="002060"/>
                </a:solidFill>
                <a:latin typeface="Cambria"/>
                <a:cs typeface="Cambria"/>
              </a:rPr>
              <a:t>O. </a:t>
            </a:r>
            <a:r>
              <a:rPr dirty="0" sz="1200" spc="150">
                <a:solidFill>
                  <a:srgbClr val="002060"/>
                </a:solidFill>
                <a:latin typeface="Cambria"/>
                <a:cs typeface="Cambria"/>
              </a:rPr>
              <a:t>B. </a:t>
            </a:r>
            <a:r>
              <a:rPr dirty="0" sz="1200">
                <a:solidFill>
                  <a:srgbClr val="002060"/>
                </a:solidFill>
                <a:latin typeface="Cambria"/>
                <a:cs typeface="Cambria"/>
              </a:rPr>
              <a:t>(2025).</a:t>
            </a:r>
            <a:r>
              <a:rPr dirty="0" sz="12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50" i="1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200" spc="13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10" i="1">
                <a:solidFill>
                  <a:srgbClr val="002060"/>
                </a:solidFill>
                <a:latin typeface="Cambria"/>
                <a:cs typeface="Cambria"/>
              </a:rPr>
              <a:t>Graph-</a:t>
            </a:r>
            <a:r>
              <a:rPr dirty="0" sz="1200" spc="114" i="1">
                <a:solidFill>
                  <a:srgbClr val="002060"/>
                </a:solidFill>
                <a:latin typeface="Cambria"/>
                <a:cs typeface="Cambria"/>
              </a:rPr>
              <a:t>Based</a:t>
            </a:r>
            <a:r>
              <a:rPr dirty="0" sz="1200" spc="13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25" i="1">
                <a:solidFill>
                  <a:srgbClr val="002060"/>
                </a:solidFill>
                <a:latin typeface="Cambria"/>
                <a:cs typeface="Cambria"/>
              </a:rPr>
              <a:t>Analysis</a:t>
            </a:r>
            <a:r>
              <a:rPr dirty="0" sz="1200" spc="13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50" i="1">
                <a:solidFill>
                  <a:srgbClr val="002060"/>
                </a:solidFill>
                <a:latin typeface="Cambria"/>
                <a:cs typeface="Cambria"/>
              </a:rPr>
              <a:t>of</a:t>
            </a:r>
            <a:r>
              <a:rPr dirty="0" sz="1200" spc="135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-10" i="1">
                <a:solidFill>
                  <a:srgbClr val="002060"/>
                </a:solidFill>
                <a:latin typeface="Cambria"/>
                <a:cs typeface="Cambria"/>
              </a:rPr>
              <a:t>Digital </a:t>
            </a:r>
            <a:r>
              <a:rPr dirty="0" sz="1200" spc="114" i="1">
                <a:solidFill>
                  <a:srgbClr val="002060"/>
                </a:solidFill>
                <a:latin typeface="Cambria"/>
                <a:cs typeface="Cambria"/>
              </a:rPr>
              <a:t>Payments</a:t>
            </a:r>
            <a:r>
              <a:rPr dirty="0" sz="1200" spc="12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25" i="1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200" spc="12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45" i="1">
                <a:solidFill>
                  <a:srgbClr val="002060"/>
                </a:solidFill>
                <a:latin typeface="Cambria"/>
                <a:cs typeface="Cambria"/>
              </a:rPr>
              <a:t>Digital</a:t>
            </a:r>
            <a:r>
              <a:rPr dirty="0" sz="1200" spc="125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80" i="1">
                <a:solidFill>
                  <a:srgbClr val="002060"/>
                </a:solidFill>
                <a:latin typeface="Cambria"/>
                <a:cs typeface="Cambria"/>
              </a:rPr>
              <a:t>Technologies</a:t>
            </a:r>
            <a:r>
              <a:rPr dirty="0" sz="1200" spc="80">
                <a:solidFill>
                  <a:srgbClr val="002060"/>
                </a:solidFill>
                <a:latin typeface="Cambria"/>
                <a:cs typeface="Cambria"/>
              </a:rPr>
              <a:t>.</a:t>
            </a:r>
            <a:r>
              <a:rPr dirty="0" sz="1200" spc="14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75">
                <a:solidFill>
                  <a:srgbClr val="002060"/>
                </a:solidFill>
                <a:latin typeface="Cambria"/>
                <a:cs typeface="Cambria"/>
              </a:rPr>
              <a:t>In</a:t>
            </a:r>
            <a:r>
              <a:rPr dirty="0" sz="1200" spc="1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20">
                <a:solidFill>
                  <a:srgbClr val="002060"/>
                </a:solidFill>
                <a:latin typeface="Cambria"/>
                <a:cs typeface="Cambria"/>
              </a:rPr>
              <a:t>Graph</a:t>
            </a:r>
            <a:r>
              <a:rPr dirty="0" sz="1200" spc="1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60">
                <a:solidFill>
                  <a:srgbClr val="002060"/>
                </a:solidFill>
                <a:latin typeface="Cambria"/>
                <a:cs typeface="Cambria"/>
              </a:rPr>
              <a:t>Theory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002060"/>
                </a:solidFill>
                <a:latin typeface="Cambria"/>
                <a:cs typeface="Cambria"/>
              </a:rPr>
              <a:t>for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95">
                <a:solidFill>
                  <a:srgbClr val="002060"/>
                </a:solidFill>
                <a:latin typeface="Cambria"/>
                <a:cs typeface="Cambria"/>
              </a:rPr>
              <a:t>Computer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90">
                <a:solidFill>
                  <a:srgbClr val="002060"/>
                </a:solidFill>
                <a:latin typeface="Cambria"/>
                <a:cs typeface="Cambria"/>
              </a:rPr>
              <a:t>Science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30">
                <a:solidFill>
                  <a:srgbClr val="002060"/>
                </a:solidFill>
                <a:latin typeface="Cambria"/>
                <a:cs typeface="Cambria"/>
              </a:rPr>
              <a:t>(pp. </a:t>
            </a:r>
            <a:r>
              <a:rPr dirty="0" sz="1200" spc="65">
                <a:solidFill>
                  <a:srgbClr val="002060"/>
                </a:solidFill>
                <a:latin typeface="Cambria"/>
                <a:cs typeface="Cambria"/>
              </a:rPr>
              <a:t>475–</a:t>
            </a:r>
            <a:r>
              <a:rPr dirty="0" sz="1200" spc="40">
                <a:solidFill>
                  <a:srgbClr val="002060"/>
                </a:solidFill>
                <a:latin typeface="Cambria"/>
                <a:cs typeface="Cambria"/>
              </a:rPr>
              <a:t>488).</a:t>
            </a:r>
            <a:endParaRPr sz="1200">
              <a:latin typeface="Cambria"/>
              <a:cs typeface="Cambria"/>
            </a:endParaRPr>
          </a:p>
          <a:p>
            <a:pPr marL="356870" marR="5080" indent="-344805">
              <a:lnSpc>
                <a:spcPct val="101899"/>
              </a:lnSpc>
              <a:buFont typeface="Arial MT"/>
              <a:buAutoNum type="arabicPeriod"/>
              <a:tabLst>
                <a:tab pos="356870" algn="l"/>
              </a:tabLst>
            </a:pPr>
            <a:r>
              <a:rPr dirty="0" sz="1200" spc="95">
                <a:solidFill>
                  <a:srgbClr val="002060"/>
                </a:solidFill>
                <a:latin typeface="Cambria"/>
                <a:cs typeface="Cambria"/>
              </a:rPr>
              <a:t>Mishra,</a:t>
            </a:r>
            <a:r>
              <a:rPr dirty="0" sz="12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55">
                <a:solidFill>
                  <a:srgbClr val="002060"/>
                </a:solidFill>
                <a:latin typeface="Cambria"/>
                <a:cs typeface="Cambria"/>
              </a:rPr>
              <a:t>S.,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70">
                <a:solidFill>
                  <a:srgbClr val="002060"/>
                </a:solidFill>
                <a:latin typeface="Cambria"/>
                <a:cs typeface="Cambria"/>
              </a:rPr>
              <a:t>Aggarwal,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14">
                <a:solidFill>
                  <a:srgbClr val="002060"/>
                </a:solidFill>
                <a:latin typeface="Cambria"/>
                <a:cs typeface="Cambria"/>
              </a:rPr>
              <a:t>V.,</a:t>
            </a:r>
            <a:r>
              <a:rPr dirty="0" sz="12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85">
                <a:solidFill>
                  <a:srgbClr val="002060"/>
                </a:solidFill>
                <a:latin typeface="Cambria"/>
                <a:cs typeface="Cambria"/>
              </a:rPr>
              <a:t>Pal,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55">
                <a:solidFill>
                  <a:srgbClr val="002060"/>
                </a:solidFill>
                <a:latin typeface="Cambria"/>
                <a:cs typeface="Cambria"/>
              </a:rPr>
              <a:t>S.,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&amp;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70">
                <a:solidFill>
                  <a:srgbClr val="002060"/>
                </a:solidFill>
                <a:latin typeface="Cambria"/>
                <a:cs typeface="Cambria"/>
              </a:rPr>
              <a:t>Agarwal,</a:t>
            </a:r>
            <a:r>
              <a:rPr dirty="0" sz="12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10">
                <a:solidFill>
                  <a:srgbClr val="002060"/>
                </a:solidFill>
                <a:latin typeface="Cambria"/>
                <a:cs typeface="Cambria"/>
              </a:rPr>
              <a:t>V.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002060"/>
                </a:solidFill>
                <a:latin typeface="Cambria"/>
                <a:cs typeface="Cambria"/>
              </a:rPr>
              <a:t>(2025).</a:t>
            </a:r>
            <a:r>
              <a:rPr dirty="0" sz="1200" spc="21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95" i="1">
                <a:solidFill>
                  <a:srgbClr val="002060"/>
                </a:solidFill>
                <a:latin typeface="Cambria"/>
                <a:cs typeface="Cambria"/>
              </a:rPr>
              <a:t>HeRo:</a:t>
            </a:r>
            <a:r>
              <a:rPr dirty="0" sz="1200" spc="14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80" i="1">
                <a:solidFill>
                  <a:srgbClr val="002060"/>
                </a:solidFill>
                <a:latin typeface="Cambria"/>
                <a:cs typeface="Cambria"/>
              </a:rPr>
              <a:t>Heuristic-</a:t>
            </a:r>
            <a:r>
              <a:rPr dirty="0" sz="1200" spc="90" i="1">
                <a:solidFill>
                  <a:srgbClr val="002060"/>
                </a:solidFill>
                <a:latin typeface="Cambria"/>
                <a:cs typeface="Cambria"/>
              </a:rPr>
              <a:t>Based </a:t>
            </a:r>
            <a:r>
              <a:rPr dirty="0" sz="1200" spc="60" i="1">
                <a:solidFill>
                  <a:srgbClr val="002060"/>
                </a:solidFill>
                <a:latin typeface="Cambria"/>
                <a:cs typeface="Cambria"/>
              </a:rPr>
              <a:t>Routing</a:t>
            </a:r>
            <a:r>
              <a:rPr dirty="0" sz="1200" spc="12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60" i="1">
                <a:solidFill>
                  <a:srgbClr val="002060"/>
                </a:solidFill>
                <a:latin typeface="Cambria"/>
                <a:cs typeface="Cambria"/>
              </a:rPr>
              <a:t>in</a:t>
            </a:r>
            <a:r>
              <a:rPr dirty="0" sz="1200" spc="125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95" i="1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200" spc="125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14" i="1">
                <a:solidFill>
                  <a:srgbClr val="002060"/>
                </a:solidFill>
                <a:latin typeface="Cambria"/>
                <a:cs typeface="Cambria"/>
              </a:rPr>
              <a:t>Channel</a:t>
            </a:r>
            <a:r>
              <a:rPr dirty="0" sz="1200" spc="125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00" i="1">
                <a:solidFill>
                  <a:srgbClr val="002060"/>
                </a:solidFill>
                <a:latin typeface="Cambria"/>
                <a:cs typeface="Cambria"/>
              </a:rPr>
              <a:t>Networks</a:t>
            </a:r>
            <a:r>
              <a:rPr dirty="0" sz="1200" spc="100">
                <a:solidFill>
                  <a:srgbClr val="002060"/>
                </a:solidFill>
                <a:latin typeface="Cambria"/>
                <a:cs typeface="Cambria"/>
              </a:rPr>
              <a:t>.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40">
                <a:solidFill>
                  <a:srgbClr val="002060"/>
                </a:solidFill>
                <a:latin typeface="Cambria"/>
                <a:cs typeface="Cambria"/>
              </a:rPr>
              <a:t>IEEE</a:t>
            </a:r>
            <a:r>
              <a:rPr dirty="0" sz="1200" spc="1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65">
                <a:solidFill>
                  <a:srgbClr val="002060"/>
                </a:solidFill>
                <a:latin typeface="Cambria"/>
                <a:cs typeface="Cambria"/>
              </a:rPr>
              <a:t>Networking</a:t>
            </a:r>
            <a:r>
              <a:rPr dirty="0" sz="1200" spc="1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65">
                <a:solidFill>
                  <a:srgbClr val="002060"/>
                </a:solidFill>
                <a:latin typeface="Cambria"/>
                <a:cs typeface="Cambria"/>
              </a:rPr>
              <a:t>Letters,</a:t>
            </a:r>
            <a:r>
              <a:rPr dirty="0" sz="1200" spc="1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002060"/>
                </a:solidFill>
                <a:latin typeface="Cambria"/>
                <a:cs typeface="Cambria"/>
              </a:rPr>
              <a:t>7(1),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90">
                <a:solidFill>
                  <a:srgbClr val="002060"/>
                </a:solidFill>
                <a:latin typeface="Cambria"/>
                <a:cs typeface="Cambria"/>
              </a:rPr>
              <a:t>56–</a:t>
            </a:r>
            <a:r>
              <a:rPr dirty="0" sz="1200" spc="75">
                <a:solidFill>
                  <a:srgbClr val="002060"/>
                </a:solidFill>
                <a:latin typeface="Cambria"/>
                <a:cs typeface="Cambria"/>
              </a:rPr>
              <a:t>60.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85">
                <a:solidFill>
                  <a:srgbClr val="002060"/>
                </a:solidFill>
                <a:latin typeface="Cambria"/>
                <a:cs typeface="Cambria"/>
              </a:rPr>
              <a:t>DOI: 10.1109/LNET.2024.3520350.</a:t>
            </a:r>
            <a:endParaRPr sz="1200">
              <a:latin typeface="Cambria"/>
              <a:cs typeface="Cambria"/>
            </a:endParaRPr>
          </a:p>
          <a:p>
            <a:pPr marL="356870" marR="21590" indent="-344805">
              <a:lnSpc>
                <a:spcPct val="101899"/>
              </a:lnSpc>
              <a:buFont typeface="Arial MT"/>
              <a:buAutoNum type="arabicPeriod"/>
              <a:tabLst>
                <a:tab pos="356870" algn="l"/>
              </a:tabLst>
            </a:pPr>
            <a:r>
              <a:rPr dirty="0" sz="1200" spc="114">
                <a:solidFill>
                  <a:srgbClr val="002060"/>
                </a:solidFill>
                <a:latin typeface="Cambria"/>
                <a:cs typeface="Cambria"/>
              </a:rPr>
              <a:t>Zhang,</a:t>
            </a:r>
            <a:r>
              <a:rPr dirty="0" sz="12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80">
                <a:solidFill>
                  <a:srgbClr val="002060"/>
                </a:solidFill>
                <a:latin typeface="Cambria"/>
                <a:cs typeface="Cambria"/>
              </a:rPr>
              <a:t>C.</a:t>
            </a:r>
            <a:r>
              <a:rPr dirty="0" sz="12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002060"/>
                </a:solidFill>
                <a:latin typeface="Cambria"/>
                <a:cs typeface="Cambria"/>
              </a:rPr>
              <a:t>(2024).</a:t>
            </a:r>
            <a:r>
              <a:rPr dirty="0" sz="12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30" i="1">
                <a:solidFill>
                  <a:srgbClr val="002060"/>
                </a:solidFill>
                <a:latin typeface="Cambria"/>
                <a:cs typeface="Cambria"/>
              </a:rPr>
              <a:t>An</a:t>
            </a:r>
            <a:r>
              <a:rPr dirty="0" sz="1200" spc="15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10" i="1">
                <a:solidFill>
                  <a:srgbClr val="002060"/>
                </a:solidFill>
                <a:latin typeface="Cambria"/>
                <a:cs typeface="Cambria"/>
              </a:rPr>
              <a:t>Enhanced</a:t>
            </a:r>
            <a:r>
              <a:rPr dirty="0" sz="1200" spc="15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20" i="1">
                <a:solidFill>
                  <a:srgbClr val="002060"/>
                </a:solidFill>
                <a:latin typeface="Cambria"/>
                <a:cs typeface="Cambria"/>
              </a:rPr>
              <a:t>Benders</a:t>
            </a:r>
            <a:r>
              <a:rPr dirty="0" sz="1200" spc="15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65" i="1">
                <a:solidFill>
                  <a:srgbClr val="002060"/>
                </a:solidFill>
                <a:latin typeface="Cambria"/>
                <a:cs typeface="Cambria"/>
              </a:rPr>
              <a:t>Decomposition</a:t>
            </a:r>
            <a:r>
              <a:rPr dirty="0" sz="1200" spc="15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80" i="1">
                <a:solidFill>
                  <a:srgbClr val="002060"/>
                </a:solidFill>
                <a:latin typeface="Cambria"/>
                <a:cs typeface="Cambria"/>
              </a:rPr>
              <a:t>Method</a:t>
            </a:r>
            <a:r>
              <a:rPr dirty="0" sz="1200" spc="15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i="1">
                <a:solidFill>
                  <a:srgbClr val="002060"/>
                </a:solidFill>
                <a:latin typeface="Cambria"/>
                <a:cs typeface="Cambria"/>
              </a:rPr>
              <a:t>for</a:t>
            </a:r>
            <a:r>
              <a:rPr dirty="0" sz="1200" spc="15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85" i="1">
                <a:solidFill>
                  <a:srgbClr val="002060"/>
                </a:solidFill>
                <a:latin typeface="Cambria"/>
                <a:cs typeface="Cambria"/>
              </a:rPr>
              <a:t>Unique</a:t>
            </a:r>
            <a:r>
              <a:rPr dirty="0" sz="1200" spc="15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65" i="1">
                <a:solidFill>
                  <a:srgbClr val="002060"/>
                </a:solidFill>
                <a:latin typeface="Cambria"/>
                <a:cs typeface="Cambria"/>
              </a:rPr>
              <a:t>Shortest </a:t>
            </a:r>
            <a:r>
              <a:rPr dirty="0" sz="1200" spc="75" i="1">
                <a:solidFill>
                  <a:srgbClr val="002060"/>
                </a:solidFill>
                <a:latin typeface="Cambria"/>
                <a:cs typeface="Cambria"/>
              </a:rPr>
              <a:t>Path</a:t>
            </a:r>
            <a:r>
              <a:rPr dirty="0" sz="1200" spc="12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70" i="1">
                <a:solidFill>
                  <a:srgbClr val="002060"/>
                </a:solidFill>
                <a:latin typeface="Cambria"/>
                <a:cs typeface="Cambria"/>
              </a:rPr>
              <a:t>Routing</a:t>
            </a:r>
            <a:r>
              <a:rPr dirty="0" sz="1200" spc="70">
                <a:solidFill>
                  <a:srgbClr val="002060"/>
                </a:solidFill>
                <a:latin typeface="Cambria"/>
                <a:cs typeface="Cambria"/>
              </a:rPr>
              <a:t>.</a:t>
            </a:r>
            <a:r>
              <a:rPr dirty="0" sz="1200" spc="14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OPSEARCH, </a:t>
            </a:r>
            <a:r>
              <a:rPr dirty="0" sz="1200" spc="105">
                <a:solidFill>
                  <a:srgbClr val="002060"/>
                </a:solidFill>
                <a:latin typeface="Cambria"/>
                <a:cs typeface="Cambria"/>
              </a:rPr>
              <a:t>61,</a:t>
            </a:r>
            <a:r>
              <a:rPr dirty="0" sz="1200" spc="14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85">
                <a:solidFill>
                  <a:srgbClr val="002060"/>
                </a:solidFill>
                <a:latin typeface="Cambria"/>
                <a:cs typeface="Cambria"/>
              </a:rPr>
              <a:t>989–</a:t>
            </a:r>
            <a:r>
              <a:rPr dirty="0" sz="1200" spc="75">
                <a:solidFill>
                  <a:srgbClr val="002060"/>
                </a:solidFill>
                <a:latin typeface="Cambria"/>
                <a:cs typeface="Cambria"/>
              </a:rPr>
              <a:t>1012.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10">
                <a:solidFill>
                  <a:srgbClr val="002060"/>
                </a:solidFill>
                <a:latin typeface="Cambria"/>
                <a:cs typeface="Cambria"/>
              </a:rPr>
              <a:t>DOI: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95">
                <a:solidFill>
                  <a:srgbClr val="002060"/>
                </a:solidFill>
                <a:latin typeface="Cambria"/>
                <a:cs typeface="Cambria"/>
              </a:rPr>
              <a:t>10.1007/s12597-023-</a:t>
            </a:r>
            <a:r>
              <a:rPr dirty="0" sz="1200" spc="100">
                <a:solidFill>
                  <a:srgbClr val="002060"/>
                </a:solidFill>
                <a:latin typeface="Cambria"/>
                <a:cs typeface="Cambria"/>
              </a:rPr>
              <a:t>00718-</a:t>
            </a:r>
            <a:r>
              <a:rPr dirty="0" sz="1200" spc="45">
                <a:solidFill>
                  <a:srgbClr val="002060"/>
                </a:solidFill>
                <a:latin typeface="Cambria"/>
                <a:cs typeface="Cambria"/>
              </a:rPr>
              <a:t>0.</a:t>
            </a:r>
            <a:endParaRPr sz="1200">
              <a:latin typeface="Cambria"/>
              <a:cs typeface="Cambria"/>
            </a:endParaRPr>
          </a:p>
          <a:p>
            <a:pPr marL="356870" marR="169545" indent="-344805">
              <a:lnSpc>
                <a:spcPct val="101899"/>
              </a:lnSpc>
              <a:buFont typeface="Arial MT"/>
              <a:buAutoNum type="arabicPeriod"/>
              <a:tabLst>
                <a:tab pos="356870" algn="l"/>
              </a:tabLst>
            </a:pPr>
            <a:r>
              <a:rPr dirty="0" sz="1200" spc="85">
                <a:solidFill>
                  <a:srgbClr val="002060"/>
                </a:solidFill>
                <a:latin typeface="Cambria"/>
                <a:cs typeface="Cambria"/>
              </a:rPr>
              <a:t>Kantheti,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65">
                <a:solidFill>
                  <a:srgbClr val="002060"/>
                </a:solidFill>
                <a:latin typeface="Cambria"/>
                <a:cs typeface="Cambria"/>
              </a:rPr>
              <a:t>P.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30">
                <a:solidFill>
                  <a:srgbClr val="002060"/>
                </a:solidFill>
                <a:latin typeface="Cambria"/>
                <a:cs typeface="Cambria"/>
              </a:rPr>
              <a:t>R.,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45">
                <a:solidFill>
                  <a:srgbClr val="002060"/>
                </a:solidFill>
                <a:latin typeface="Cambria"/>
                <a:cs typeface="Cambria"/>
              </a:rPr>
              <a:t>&amp;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20">
                <a:solidFill>
                  <a:srgbClr val="002060"/>
                </a:solidFill>
                <a:latin typeface="Cambria"/>
                <a:cs typeface="Cambria"/>
              </a:rPr>
              <a:t>Bvuma,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S. </a:t>
            </a:r>
            <a:r>
              <a:rPr dirty="0" sz="1200">
                <a:solidFill>
                  <a:srgbClr val="002060"/>
                </a:solidFill>
                <a:latin typeface="Cambria"/>
                <a:cs typeface="Cambria"/>
              </a:rPr>
              <a:t>(2024).</a:t>
            </a:r>
            <a:r>
              <a:rPr dirty="0" sz="1200" spc="1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65" i="1">
                <a:solidFill>
                  <a:srgbClr val="002060"/>
                </a:solidFill>
                <a:latin typeface="Cambria"/>
                <a:cs typeface="Cambria"/>
              </a:rPr>
              <a:t>Real-</a:t>
            </a:r>
            <a:r>
              <a:rPr dirty="0" sz="1200" spc="80" i="1">
                <a:solidFill>
                  <a:srgbClr val="002060"/>
                </a:solidFill>
                <a:latin typeface="Cambria"/>
                <a:cs typeface="Cambria"/>
              </a:rPr>
              <a:t>Time</a:t>
            </a:r>
            <a:r>
              <a:rPr dirty="0" sz="1200" spc="145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95" i="1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200" spc="145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40" i="1">
                <a:solidFill>
                  <a:srgbClr val="002060"/>
                </a:solidFill>
                <a:latin typeface="Cambria"/>
                <a:cs typeface="Cambria"/>
              </a:rPr>
              <a:t>Systems </a:t>
            </a:r>
            <a:r>
              <a:rPr dirty="0" sz="1200" i="1">
                <a:solidFill>
                  <a:srgbClr val="002060"/>
                </a:solidFill>
                <a:latin typeface="Cambria"/>
                <a:cs typeface="Cambria"/>
              </a:rPr>
              <a:t>for</a:t>
            </a:r>
            <a:r>
              <a:rPr dirty="0" sz="1200" spc="145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65" i="1">
                <a:solidFill>
                  <a:srgbClr val="002060"/>
                </a:solidFill>
                <a:latin typeface="Cambria"/>
                <a:cs typeface="Cambria"/>
              </a:rPr>
              <a:t>Boosting Economic</a:t>
            </a:r>
            <a:r>
              <a:rPr dirty="0" sz="1200" spc="130" i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60" i="1">
                <a:solidFill>
                  <a:srgbClr val="002060"/>
                </a:solidFill>
                <a:latin typeface="Cambria"/>
                <a:cs typeface="Cambria"/>
              </a:rPr>
              <a:t>Productivity</a:t>
            </a:r>
            <a:r>
              <a:rPr dirty="0" sz="1200" spc="60">
                <a:solidFill>
                  <a:srgbClr val="002060"/>
                </a:solidFill>
                <a:latin typeface="Cambria"/>
                <a:cs typeface="Cambria"/>
              </a:rPr>
              <a:t>.</a:t>
            </a:r>
            <a:r>
              <a:rPr dirty="0" sz="1200" spc="1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70">
                <a:solidFill>
                  <a:srgbClr val="002060"/>
                </a:solidFill>
                <a:latin typeface="Cambria"/>
                <a:cs typeface="Cambria"/>
              </a:rPr>
              <a:t>International</a:t>
            </a:r>
            <a:r>
              <a:rPr dirty="0" sz="1200" spc="15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25">
                <a:solidFill>
                  <a:srgbClr val="002060"/>
                </a:solidFill>
                <a:latin typeface="Cambria"/>
                <a:cs typeface="Cambria"/>
              </a:rPr>
              <a:t>Journal</a:t>
            </a:r>
            <a:r>
              <a:rPr dirty="0" sz="1200" spc="15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002060"/>
                </a:solidFill>
                <a:latin typeface="Cambria"/>
                <a:cs typeface="Cambria"/>
              </a:rPr>
              <a:t>of</a:t>
            </a:r>
            <a:r>
              <a:rPr dirty="0" sz="1200" spc="1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75">
                <a:solidFill>
                  <a:srgbClr val="002060"/>
                </a:solidFill>
                <a:latin typeface="Cambria"/>
                <a:cs typeface="Cambria"/>
              </a:rPr>
              <a:t>Scientific</a:t>
            </a:r>
            <a:r>
              <a:rPr dirty="0" sz="12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85">
                <a:solidFill>
                  <a:srgbClr val="002060"/>
                </a:solidFill>
                <a:latin typeface="Cambria"/>
                <a:cs typeface="Cambria"/>
              </a:rPr>
              <a:t>Research</a:t>
            </a:r>
            <a:r>
              <a:rPr dirty="0" sz="12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70">
                <a:solidFill>
                  <a:srgbClr val="002060"/>
                </a:solidFill>
                <a:latin typeface="Cambria"/>
                <a:cs typeface="Cambria"/>
              </a:rPr>
              <a:t>in</a:t>
            </a:r>
            <a:r>
              <a:rPr dirty="0" sz="1200" spc="15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85">
                <a:solidFill>
                  <a:srgbClr val="002060"/>
                </a:solidFill>
                <a:latin typeface="Cambria"/>
                <a:cs typeface="Cambria"/>
              </a:rPr>
              <a:t>Science, </a:t>
            </a:r>
            <a:r>
              <a:rPr dirty="0" sz="1200" spc="75">
                <a:solidFill>
                  <a:srgbClr val="002060"/>
                </a:solidFill>
                <a:latin typeface="Cambria"/>
                <a:cs typeface="Cambria"/>
              </a:rPr>
              <a:t>Engineering</a:t>
            </a:r>
            <a:r>
              <a:rPr dirty="0" sz="12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10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2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75">
                <a:solidFill>
                  <a:srgbClr val="002060"/>
                </a:solidFill>
                <a:latin typeface="Cambria"/>
                <a:cs typeface="Cambria"/>
              </a:rPr>
              <a:t>Technology,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002060"/>
                </a:solidFill>
                <a:latin typeface="Cambria"/>
                <a:cs typeface="Cambria"/>
              </a:rPr>
              <a:t>11(4),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90">
                <a:solidFill>
                  <a:srgbClr val="002060"/>
                </a:solidFill>
                <a:latin typeface="Cambria"/>
                <a:cs typeface="Cambria"/>
              </a:rPr>
              <a:t>308–</a:t>
            </a:r>
            <a:r>
              <a:rPr dirty="0" sz="1200" spc="80">
                <a:solidFill>
                  <a:srgbClr val="002060"/>
                </a:solidFill>
                <a:latin typeface="Cambria"/>
                <a:cs typeface="Cambria"/>
              </a:rPr>
              <a:t>315.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110">
                <a:solidFill>
                  <a:srgbClr val="002060"/>
                </a:solidFill>
                <a:latin typeface="Cambria"/>
                <a:cs typeface="Cambria"/>
              </a:rPr>
              <a:t>DOI:</a:t>
            </a:r>
            <a:r>
              <a:rPr dirty="0" sz="12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200" spc="95">
                <a:solidFill>
                  <a:srgbClr val="002060"/>
                </a:solidFill>
                <a:latin typeface="Cambria"/>
                <a:cs typeface="Cambria"/>
              </a:rPr>
              <a:t>10.32628/IJSRST24114169.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940" y="104446"/>
            <a:ext cx="1557141" cy="155714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2914824" y="1348449"/>
            <a:ext cx="1167765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solidFill>
                  <a:srgbClr val="833C0B"/>
                </a:solidFill>
                <a:latin typeface="Trebuchet MS"/>
                <a:cs typeface="Trebuchet MS"/>
              </a:rPr>
              <a:t>CSE</a:t>
            </a:r>
            <a:r>
              <a:rPr dirty="0" sz="1950" spc="25" b="1">
                <a:solidFill>
                  <a:srgbClr val="833C0B"/>
                </a:solidFill>
                <a:latin typeface="Trebuchet MS"/>
                <a:cs typeface="Trebuchet MS"/>
              </a:rPr>
              <a:t> </a:t>
            </a:r>
            <a:r>
              <a:rPr dirty="0" sz="1950" spc="-20" b="1">
                <a:solidFill>
                  <a:srgbClr val="833C0B"/>
                </a:solidFill>
                <a:latin typeface="Trebuchet MS"/>
                <a:cs typeface="Trebuchet MS"/>
              </a:rPr>
              <a:t>Dept.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65121" y="12844394"/>
            <a:ext cx="6675755" cy="303530"/>
          </a:xfrm>
          <a:prstGeom prst="rect">
            <a:avLst/>
          </a:prstGeom>
          <a:solidFill>
            <a:srgbClr val="FFC000"/>
          </a:solidFill>
          <a:ln w="8959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002060"/>
                </a:solidFill>
                <a:latin typeface="Comic Sans MS"/>
                <a:cs typeface="Comic Sans MS"/>
              </a:rPr>
              <a:t>Conclusions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21516" y="15190587"/>
            <a:ext cx="6763384" cy="303530"/>
          </a:xfrm>
          <a:prstGeom prst="rect">
            <a:avLst/>
          </a:prstGeom>
          <a:solidFill>
            <a:srgbClr val="FFC000"/>
          </a:solidFill>
          <a:ln w="8959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002060"/>
                </a:solidFill>
                <a:latin typeface="Comic Sans MS"/>
                <a:cs typeface="Comic Sans MS"/>
              </a:rPr>
              <a:t>Outcome</a:t>
            </a:r>
            <a:r>
              <a:rPr dirty="0" sz="1700" spc="30" b="1">
                <a:solidFill>
                  <a:srgbClr val="002060"/>
                </a:solidFill>
                <a:latin typeface="Comic Sans MS"/>
                <a:cs typeface="Comic Sans MS"/>
              </a:rPr>
              <a:t> </a:t>
            </a:r>
            <a:r>
              <a:rPr dirty="0" sz="1700" b="1">
                <a:solidFill>
                  <a:srgbClr val="002060"/>
                </a:solidFill>
                <a:latin typeface="Comic Sans MS"/>
                <a:cs typeface="Comic Sans MS"/>
              </a:rPr>
              <a:t>of</a:t>
            </a:r>
            <a:r>
              <a:rPr dirty="0" sz="1700" spc="35" b="1">
                <a:solidFill>
                  <a:srgbClr val="002060"/>
                </a:solidFill>
                <a:latin typeface="Comic Sans MS"/>
                <a:cs typeface="Comic Sans MS"/>
              </a:rPr>
              <a:t> </a:t>
            </a:r>
            <a:r>
              <a:rPr dirty="0" sz="1700" b="1">
                <a:solidFill>
                  <a:srgbClr val="002060"/>
                </a:solidFill>
                <a:latin typeface="Comic Sans MS"/>
                <a:cs typeface="Comic Sans MS"/>
              </a:rPr>
              <a:t>the</a:t>
            </a:r>
            <a:r>
              <a:rPr dirty="0" sz="1700" spc="35" b="1">
                <a:solidFill>
                  <a:srgbClr val="002060"/>
                </a:solidFill>
                <a:latin typeface="Comic Sans MS"/>
                <a:cs typeface="Comic Sans MS"/>
              </a:rPr>
              <a:t> </a:t>
            </a:r>
            <a:r>
              <a:rPr dirty="0" sz="1700" spc="-20" b="1">
                <a:solidFill>
                  <a:srgbClr val="002060"/>
                </a:solidFill>
                <a:latin typeface="Comic Sans MS"/>
                <a:cs typeface="Comic Sans MS"/>
              </a:rPr>
              <a:t>work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73108" y="15565384"/>
            <a:ext cx="6311900" cy="1608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2900" marR="5080" indent="-330835">
              <a:lnSpc>
                <a:spcPct val="115399"/>
              </a:lnSpc>
              <a:spcBef>
                <a:spcPts val="95"/>
              </a:spcBef>
              <a:buFont typeface="Arial MT"/>
              <a:buChar char="●"/>
              <a:tabLst>
                <a:tab pos="342900" algn="l"/>
              </a:tabLst>
            </a:pPr>
            <a:r>
              <a:rPr dirty="0" sz="1500" spc="85">
                <a:solidFill>
                  <a:srgbClr val="002060"/>
                </a:solidFill>
                <a:latin typeface="Cambria"/>
                <a:cs typeface="Cambria"/>
              </a:rPr>
              <a:t>Optimizes</a:t>
            </a:r>
            <a:r>
              <a:rPr dirty="0" sz="15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75">
                <a:solidFill>
                  <a:srgbClr val="002060"/>
                </a:solidFill>
                <a:latin typeface="Cambria"/>
                <a:cs typeface="Cambria"/>
              </a:rPr>
              <a:t>international</a:t>
            </a:r>
            <a:r>
              <a:rPr dirty="0" sz="15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100">
                <a:solidFill>
                  <a:srgbClr val="002060"/>
                </a:solidFill>
                <a:latin typeface="Cambria"/>
                <a:cs typeface="Cambria"/>
              </a:rPr>
              <a:t>payments</a:t>
            </a:r>
            <a:r>
              <a:rPr dirty="0" sz="15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75">
                <a:solidFill>
                  <a:srgbClr val="002060"/>
                </a:solidFill>
                <a:latin typeface="Cambria"/>
                <a:cs typeface="Cambria"/>
              </a:rPr>
              <a:t>by</a:t>
            </a:r>
            <a:r>
              <a:rPr dirty="0" sz="15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60">
                <a:solidFill>
                  <a:srgbClr val="002060"/>
                </a:solidFill>
                <a:latin typeface="Cambria"/>
                <a:cs typeface="Cambria"/>
              </a:rPr>
              <a:t>identifying</a:t>
            </a:r>
            <a:r>
              <a:rPr dirty="0" sz="15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85">
                <a:solidFill>
                  <a:srgbClr val="002060"/>
                </a:solidFill>
                <a:latin typeface="Cambria"/>
                <a:cs typeface="Cambria"/>
              </a:rPr>
              <a:t>the</a:t>
            </a:r>
            <a:r>
              <a:rPr dirty="0" sz="15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60">
                <a:solidFill>
                  <a:srgbClr val="002060"/>
                </a:solidFill>
                <a:latin typeface="Cambria"/>
                <a:cs typeface="Cambria"/>
              </a:rPr>
              <a:t>lowest-</a:t>
            </a:r>
            <a:r>
              <a:rPr dirty="0" sz="1500" spc="40">
                <a:solidFill>
                  <a:srgbClr val="002060"/>
                </a:solidFill>
                <a:latin typeface="Cambria"/>
                <a:cs typeface="Cambria"/>
              </a:rPr>
              <a:t>cost </a:t>
            </a:r>
            <a:r>
              <a:rPr dirty="0" sz="1500" spc="85">
                <a:solidFill>
                  <a:srgbClr val="002060"/>
                </a:solidFill>
                <a:latin typeface="Cambria"/>
                <a:cs typeface="Cambria"/>
              </a:rPr>
              <a:t>multi-</a:t>
            </a:r>
            <a:r>
              <a:rPr dirty="0" sz="1500" spc="110">
                <a:solidFill>
                  <a:srgbClr val="002060"/>
                </a:solidFill>
                <a:latin typeface="Cambria"/>
                <a:cs typeface="Cambria"/>
              </a:rPr>
              <a:t>hop</a:t>
            </a:r>
            <a:r>
              <a:rPr dirty="0" sz="15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70">
                <a:solidFill>
                  <a:srgbClr val="002060"/>
                </a:solidFill>
                <a:latin typeface="Cambria"/>
                <a:cs typeface="Cambria"/>
              </a:rPr>
              <a:t>transfer</a:t>
            </a:r>
            <a:r>
              <a:rPr dirty="0" sz="15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75">
                <a:solidFill>
                  <a:srgbClr val="002060"/>
                </a:solidFill>
                <a:latin typeface="Cambria"/>
                <a:cs typeface="Cambria"/>
              </a:rPr>
              <a:t>routes.</a:t>
            </a:r>
            <a:endParaRPr sz="1500">
              <a:latin typeface="Cambria"/>
              <a:cs typeface="Cambria"/>
            </a:endParaRPr>
          </a:p>
          <a:p>
            <a:pPr marL="342900" marR="375920" indent="-330835">
              <a:lnSpc>
                <a:spcPct val="115399"/>
              </a:lnSpc>
              <a:buFont typeface="Arial MT"/>
              <a:buChar char="●"/>
              <a:tabLst>
                <a:tab pos="342900" algn="l"/>
              </a:tabLst>
            </a:pPr>
            <a:r>
              <a:rPr dirty="0" sz="1500" spc="70">
                <a:solidFill>
                  <a:srgbClr val="002060"/>
                </a:solidFill>
                <a:latin typeface="Cambria"/>
                <a:cs typeface="Cambria"/>
              </a:rPr>
              <a:t>Delivers</a:t>
            </a:r>
            <a:r>
              <a:rPr dirty="0" sz="15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95">
                <a:solidFill>
                  <a:srgbClr val="002060"/>
                </a:solidFill>
                <a:latin typeface="Cambria"/>
                <a:cs typeface="Cambria"/>
              </a:rPr>
              <a:t>fast,</a:t>
            </a:r>
            <a:r>
              <a:rPr dirty="0" sz="15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70">
                <a:solidFill>
                  <a:srgbClr val="002060"/>
                </a:solidFill>
                <a:latin typeface="Cambria"/>
                <a:cs typeface="Cambria"/>
              </a:rPr>
              <a:t>data-</a:t>
            </a:r>
            <a:r>
              <a:rPr dirty="0" sz="1500" spc="75">
                <a:solidFill>
                  <a:srgbClr val="002060"/>
                </a:solidFill>
                <a:latin typeface="Cambria"/>
                <a:cs typeface="Cambria"/>
              </a:rPr>
              <a:t>driven</a:t>
            </a:r>
            <a:r>
              <a:rPr dirty="0" sz="15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75">
                <a:solidFill>
                  <a:srgbClr val="002060"/>
                </a:solidFill>
                <a:latin typeface="Cambria"/>
                <a:cs typeface="Cambria"/>
              </a:rPr>
              <a:t>route</a:t>
            </a:r>
            <a:r>
              <a:rPr dirty="0" sz="15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90">
                <a:solidFill>
                  <a:srgbClr val="002060"/>
                </a:solidFill>
                <a:latin typeface="Cambria"/>
                <a:cs typeface="Cambria"/>
              </a:rPr>
              <a:t>recommendations</a:t>
            </a:r>
            <a:r>
              <a:rPr dirty="0" sz="15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110">
                <a:solidFill>
                  <a:srgbClr val="002060"/>
                </a:solidFill>
                <a:latin typeface="Cambria"/>
                <a:cs typeface="Cambria"/>
              </a:rPr>
              <a:t>using</a:t>
            </a:r>
            <a:r>
              <a:rPr dirty="0" sz="1500" spc="16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002060"/>
                </a:solidFill>
                <a:latin typeface="Cambria"/>
                <a:cs typeface="Cambria"/>
              </a:rPr>
              <a:t>live </a:t>
            </a:r>
            <a:r>
              <a:rPr dirty="0" sz="1500" spc="105">
                <a:solidFill>
                  <a:srgbClr val="002060"/>
                </a:solidFill>
                <a:latin typeface="Cambria"/>
                <a:cs typeface="Cambria"/>
              </a:rPr>
              <a:t>exchange</a:t>
            </a:r>
            <a:r>
              <a:rPr dirty="0" sz="1500" spc="15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75">
                <a:solidFill>
                  <a:srgbClr val="002060"/>
                </a:solidFill>
                <a:latin typeface="Cambria"/>
                <a:cs typeface="Cambria"/>
              </a:rPr>
              <a:t>rates</a:t>
            </a:r>
            <a:r>
              <a:rPr dirty="0" sz="15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125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5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90">
                <a:solidFill>
                  <a:srgbClr val="002060"/>
                </a:solidFill>
                <a:latin typeface="Cambria"/>
                <a:cs typeface="Cambria"/>
              </a:rPr>
              <a:t>graph-</a:t>
            </a:r>
            <a:r>
              <a:rPr dirty="0" sz="1500" spc="100">
                <a:solidFill>
                  <a:srgbClr val="002060"/>
                </a:solidFill>
                <a:latin typeface="Cambria"/>
                <a:cs typeface="Cambria"/>
              </a:rPr>
              <a:t>based</a:t>
            </a:r>
            <a:r>
              <a:rPr dirty="0" sz="1500" spc="15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60">
                <a:solidFill>
                  <a:srgbClr val="002060"/>
                </a:solidFill>
                <a:latin typeface="Cambria"/>
                <a:cs typeface="Cambria"/>
              </a:rPr>
              <a:t>optimization.</a:t>
            </a:r>
            <a:endParaRPr sz="1500">
              <a:latin typeface="Cambria"/>
              <a:cs typeface="Cambria"/>
            </a:endParaRPr>
          </a:p>
          <a:p>
            <a:pPr marL="342900" marR="276860" indent="-330835">
              <a:lnSpc>
                <a:spcPct val="115399"/>
              </a:lnSpc>
              <a:buFont typeface="Arial MT"/>
              <a:buChar char="●"/>
              <a:tabLst>
                <a:tab pos="342900" algn="l"/>
              </a:tabLst>
            </a:pPr>
            <a:r>
              <a:rPr dirty="0" sz="1500" spc="60">
                <a:solidFill>
                  <a:srgbClr val="002060"/>
                </a:solidFill>
                <a:latin typeface="Cambria"/>
                <a:cs typeface="Cambria"/>
              </a:rPr>
              <a:t>Provides</a:t>
            </a:r>
            <a:r>
              <a:rPr dirty="0" sz="1500" spc="15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002060"/>
                </a:solidFill>
                <a:latin typeface="Cambria"/>
                <a:cs typeface="Cambria"/>
              </a:rPr>
              <a:t>clear</a:t>
            </a:r>
            <a:r>
              <a:rPr dirty="0" sz="15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002060"/>
                </a:solidFill>
                <a:latin typeface="Cambria"/>
                <a:cs typeface="Cambria"/>
              </a:rPr>
              <a:t>cost</a:t>
            </a:r>
            <a:r>
              <a:rPr dirty="0" sz="15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85">
                <a:solidFill>
                  <a:srgbClr val="002060"/>
                </a:solidFill>
                <a:latin typeface="Cambria"/>
                <a:cs typeface="Cambria"/>
              </a:rPr>
              <a:t>breakdowns</a:t>
            </a:r>
            <a:r>
              <a:rPr dirty="0" sz="15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002060"/>
                </a:solidFill>
                <a:latin typeface="Cambria"/>
                <a:cs typeface="Cambria"/>
              </a:rPr>
              <a:t>while</a:t>
            </a:r>
            <a:r>
              <a:rPr dirty="0" sz="15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90">
                <a:solidFill>
                  <a:srgbClr val="002060"/>
                </a:solidFill>
                <a:latin typeface="Cambria"/>
                <a:cs typeface="Cambria"/>
              </a:rPr>
              <a:t>ensuring</a:t>
            </a:r>
            <a:r>
              <a:rPr dirty="0" sz="15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002060"/>
                </a:solidFill>
                <a:latin typeface="Cambria"/>
                <a:cs typeface="Cambria"/>
              </a:rPr>
              <a:t>routes</a:t>
            </a:r>
            <a:r>
              <a:rPr dirty="0" sz="1500" spc="16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002060"/>
                </a:solidFill>
                <a:latin typeface="Cambria"/>
                <a:cs typeface="Cambria"/>
              </a:rPr>
              <a:t>satisfy </a:t>
            </a:r>
            <a:r>
              <a:rPr dirty="0" sz="1500">
                <a:solidFill>
                  <a:srgbClr val="002060"/>
                </a:solidFill>
                <a:latin typeface="Cambria"/>
                <a:cs typeface="Cambria"/>
              </a:rPr>
              <a:t>provider</a:t>
            </a:r>
            <a:r>
              <a:rPr dirty="0" sz="1500" spc="25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90">
                <a:solidFill>
                  <a:srgbClr val="002060"/>
                </a:solidFill>
                <a:latin typeface="Cambria"/>
                <a:cs typeface="Cambria"/>
              </a:rPr>
              <a:t>constraints</a:t>
            </a:r>
            <a:r>
              <a:rPr dirty="0" sz="1500" spc="254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125">
                <a:solidFill>
                  <a:srgbClr val="002060"/>
                </a:solidFill>
                <a:latin typeface="Cambria"/>
                <a:cs typeface="Cambria"/>
              </a:rPr>
              <a:t>and</a:t>
            </a:r>
            <a:r>
              <a:rPr dirty="0" sz="1500" spc="254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160">
                <a:solidFill>
                  <a:srgbClr val="002060"/>
                </a:solidFill>
                <a:latin typeface="Cambria"/>
                <a:cs typeface="Cambria"/>
              </a:rPr>
              <a:t>KYC</a:t>
            </a:r>
            <a:r>
              <a:rPr dirty="0" sz="1500" spc="254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500" spc="70">
                <a:solidFill>
                  <a:srgbClr val="002060"/>
                </a:solidFill>
                <a:latin typeface="Cambria"/>
                <a:cs typeface="Cambria"/>
              </a:rPr>
              <a:t>requirements.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25766" y="13275333"/>
            <a:ext cx="6453505" cy="541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675005" algn="l"/>
                <a:tab pos="1153160" algn="l"/>
                <a:tab pos="1604645" algn="l"/>
                <a:tab pos="2257425" algn="l"/>
                <a:tab pos="2919730" algn="l"/>
                <a:tab pos="3244215" algn="l"/>
                <a:tab pos="3496310" algn="l"/>
                <a:tab pos="3884929" algn="l"/>
                <a:tab pos="3940175" algn="l"/>
                <a:tab pos="4706620" algn="l"/>
                <a:tab pos="5157470" algn="l"/>
                <a:tab pos="5557520" algn="l"/>
                <a:tab pos="6040120" algn="l"/>
              </a:tabLst>
            </a:pPr>
            <a:r>
              <a:rPr dirty="0" sz="1700" spc="70">
                <a:solidFill>
                  <a:srgbClr val="203764"/>
                </a:solidFill>
                <a:latin typeface="Cambria"/>
                <a:cs typeface="Cambria"/>
              </a:rPr>
              <a:t>This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55">
                <a:solidFill>
                  <a:srgbClr val="203764"/>
                </a:solidFill>
                <a:latin typeface="Cambria"/>
                <a:cs typeface="Cambria"/>
              </a:rPr>
              <a:t>project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85">
                <a:solidFill>
                  <a:srgbClr val="203764"/>
                </a:solidFill>
                <a:latin typeface="Cambria"/>
                <a:cs typeface="Cambria"/>
              </a:rPr>
              <a:t>demonstrates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45">
                <a:solidFill>
                  <a:srgbClr val="203764"/>
                </a:solidFill>
                <a:latin typeface="Cambria"/>
                <a:cs typeface="Cambria"/>
              </a:rPr>
              <a:t>how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95">
                <a:solidFill>
                  <a:srgbClr val="203764"/>
                </a:solidFill>
                <a:latin typeface="Cambria"/>
                <a:cs typeface="Cambria"/>
              </a:rPr>
              <a:t>graph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80">
                <a:solidFill>
                  <a:srgbClr val="203764"/>
                </a:solidFill>
                <a:latin typeface="Cambria"/>
                <a:cs typeface="Cambria"/>
              </a:rPr>
              <a:t>algorithms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110">
                <a:solidFill>
                  <a:srgbClr val="203764"/>
                </a:solidFill>
                <a:latin typeface="Cambria"/>
                <a:cs typeface="Cambria"/>
              </a:rPr>
              <a:t>and </a:t>
            </a:r>
            <a:r>
              <a:rPr dirty="0" sz="1700" spc="65">
                <a:solidFill>
                  <a:srgbClr val="203764"/>
                </a:solidFill>
                <a:latin typeface="Cambria"/>
                <a:cs typeface="Cambria"/>
              </a:rPr>
              <a:t>real-</a:t>
            </a:r>
            <a:r>
              <a:rPr dirty="0" sz="1700" spc="70">
                <a:solidFill>
                  <a:srgbClr val="203764"/>
                </a:solidFill>
                <a:latin typeface="Cambria"/>
                <a:cs typeface="Cambria"/>
              </a:rPr>
              <a:t>time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80">
                <a:solidFill>
                  <a:srgbClr val="203764"/>
                </a:solidFill>
                <a:latin typeface="Cambria"/>
                <a:cs typeface="Cambria"/>
              </a:rPr>
              <a:t>financial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90">
                <a:solidFill>
                  <a:srgbClr val="203764"/>
                </a:solidFill>
                <a:latin typeface="Cambria"/>
                <a:cs typeface="Cambria"/>
              </a:rPr>
              <a:t>data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120">
                <a:solidFill>
                  <a:srgbClr val="203764"/>
                </a:solidFill>
                <a:latin typeface="Cambria"/>
                <a:cs typeface="Cambria"/>
              </a:rPr>
              <a:t>can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60">
                <a:solidFill>
                  <a:srgbClr val="203764"/>
                </a:solidFill>
                <a:latin typeface="Cambria"/>
                <a:cs typeface="Cambria"/>
              </a:rPr>
              <a:t>be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	</a:t>
            </a:r>
            <a:r>
              <a:rPr dirty="0" sz="1700" spc="80">
                <a:solidFill>
                  <a:srgbClr val="203764"/>
                </a:solidFill>
                <a:latin typeface="Cambria"/>
                <a:cs typeface="Cambria"/>
              </a:rPr>
              <a:t>combined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-25">
                <a:solidFill>
                  <a:srgbClr val="203764"/>
                </a:solidFill>
                <a:latin typeface="Cambria"/>
                <a:cs typeface="Cambria"/>
              </a:rPr>
              <a:t>to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50">
                <a:solidFill>
                  <a:srgbClr val="203764"/>
                </a:solidFill>
                <a:latin typeface="Cambria"/>
                <a:cs typeface="Cambria"/>
              </a:rPr>
              <a:t>optimize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25766" y="13791375"/>
            <a:ext cx="6455410" cy="541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1557020" algn="l"/>
                <a:tab pos="2649220" algn="l"/>
                <a:tab pos="3665854" algn="l"/>
                <a:tab pos="4122420" algn="l"/>
                <a:tab pos="5409565" algn="l"/>
                <a:tab pos="5927090" algn="l"/>
              </a:tabLst>
            </a:pPr>
            <a:r>
              <a:rPr dirty="0" sz="1700" spc="80">
                <a:solidFill>
                  <a:srgbClr val="203764"/>
                </a:solidFill>
                <a:latin typeface="Cambria"/>
                <a:cs typeface="Cambria"/>
              </a:rPr>
              <a:t>international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95">
                <a:solidFill>
                  <a:srgbClr val="203764"/>
                </a:solidFill>
                <a:latin typeface="Cambria"/>
                <a:cs typeface="Cambria"/>
              </a:rPr>
              <a:t>payment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85">
                <a:solidFill>
                  <a:srgbClr val="203764"/>
                </a:solidFill>
                <a:latin typeface="Cambria"/>
                <a:cs typeface="Cambria"/>
              </a:rPr>
              <a:t>routing.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105">
                <a:solidFill>
                  <a:srgbClr val="203764"/>
                </a:solidFill>
                <a:latin typeface="Cambria"/>
                <a:cs typeface="Cambria"/>
              </a:rPr>
              <a:t>By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55">
                <a:solidFill>
                  <a:srgbClr val="203764"/>
                </a:solidFill>
                <a:latin typeface="Cambria"/>
                <a:cs typeface="Cambria"/>
              </a:rPr>
              <a:t>identifying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65">
                <a:solidFill>
                  <a:srgbClr val="203764"/>
                </a:solidFill>
                <a:latin typeface="Cambria"/>
                <a:cs typeface="Cambria"/>
              </a:rPr>
              <a:t>the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80">
                <a:solidFill>
                  <a:srgbClr val="203764"/>
                </a:solidFill>
                <a:latin typeface="Cambria"/>
                <a:cs typeface="Cambria"/>
              </a:rPr>
              <a:t>most </a:t>
            </a:r>
            <a:r>
              <a:rPr dirty="0" sz="1700" spc="75">
                <a:solidFill>
                  <a:srgbClr val="203764"/>
                </a:solidFill>
                <a:latin typeface="Cambria"/>
                <a:cs typeface="Cambria"/>
              </a:rPr>
              <a:t>cost-</a:t>
            </a:r>
            <a:r>
              <a:rPr dirty="0" sz="1700" spc="55">
                <a:solidFill>
                  <a:srgbClr val="203764"/>
                </a:solidFill>
                <a:latin typeface="Cambria"/>
                <a:cs typeface="Cambria"/>
              </a:rPr>
              <a:t>effective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991393" y="14049395"/>
            <a:ext cx="489394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59205" algn="l"/>
                <a:tab pos="2395220" algn="l"/>
                <a:tab pos="3194685" algn="l"/>
                <a:tab pos="3951604" algn="l"/>
              </a:tabLst>
            </a:pPr>
            <a:r>
              <a:rPr dirty="0" sz="1700" spc="90">
                <a:solidFill>
                  <a:srgbClr val="203764"/>
                </a:solidFill>
                <a:latin typeface="Cambria"/>
                <a:cs typeface="Cambria"/>
              </a:rPr>
              <a:t>multi-hop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85">
                <a:solidFill>
                  <a:srgbClr val="203764"/>
                </a:solidFill>
                <a:latin typeface="Cambria"/>
                <a:cs typeface="Cambria"/>
              </a:rPr>
              <a:t>currency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114">
                <a:solidFill>
                  <a:srgbClr val="203764"/>
                </a:solidFill>
                <a:latin typeface="Cambria"/>
                <a:cs typeface="Cambria"/>
              </a:rPr>
              <a:t>paths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45">
                <a:solidFill>
                  <a:srgbClr val="203764"/>
                </a:solidFill>
                <a:latin typeface="Cambria"/>
                <a:cs typeface="Cambria"/>
              </a:rPr>
              <a:t>while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	</a:t>
            </a:r>
            <a:r>
              <a:rPr dirty="0" sz="1700" spc="95">
                <a:solidFill>
                  <a:srgbClr val="203764"/>
                </a:solidFill>
                <a:latin typeface="Cambria"/>
                <a:cs typeface="Cambria"/>
              </a:rPr>
              <a:t>ensuring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25766" y="14307415"/>
            <a:ext cx="6453505" cy="799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700" spc="65">
                <a:solidFill>
                  <a:srgbClr val="203764"/>
                </a:solidFill>
                <a:latin typeface="Cambria"/>
                <a:cs typeface="Cambria"/>
              </a:rPr>
              <a:t>regulatory</a:t>
            </a:r>
            <a:r>
              <a:rPr dirty="0" sz="1700" spc="285">
                <a:solidFill>
                  <a:srgbClr val="203764"/>
                </a:solidFill>
                <a:latin typeface="Cambria"/>
                <a:cs typeface="Cambria"/>
              </a:rPr>
              <a:t>   </a:t>
            </a:r>
            <a:r>
              <a:rPr dirty="0" sz="1700" spc="95">
                <a:solidFill>
                  <a:srgbClr val="203764"/>
                </a:solidFill>
                <a:latin typeface="Cambria"/>
                <a:cs typeface="Cambria"/>
              </a:rPr>
              <a:t>compliance</a:t>
            </a:r>
            <a:r>
              <a:rPr dirty="0" sz="1700" spc="285">
                <a:solidFill>
                  <a:srgbClr val="203764"/>
                </a:solidFill>
                <a:latin typeface="Cambria"/>
                <a:cs typeface="Cambria"/>
              </a:rPr>
              <a:t>   </a:t>
            </a:r>
            <a:r>
              <a:rPr dirty="0" sz="1700" spc="140">
                <a:solidFill>
                  <a:srgbClr val="203764"/>
                </a:solidFill>
                <a:latin typeface="Cambria"/>
                <a:cs typeface="Cambria"/>
              </a:rPr>
              <a:t>and</a:t>
            </a:r>
            <a:r>
              <a:rPr dirty="0" sz="1700" spc="290">
                <a:solidFill>
                  <a:srgbClr val="203764"/>
                </a:solidFill>
                <a:latin typeface="Cambria"/>
                <a:cs typeface="Cambria"/>
              </a:rPr>
              <a:t>   </a:t>
            </a:r>
            <a:r>
              <a:rPr dirty="0" sz="1700" spc="105">
                <a:solidFill>
                  <a:srgbClr val="203764"/>
                </a:solidFill>
                <a:latin typeface="Cambria"/>
                <a:cs typeface="Cambria"/>
              </a:rPr>
              <a:t>transparency,</a:t>
            </a:r>
            <a:r>
              <a:rPr dirty="0" sz="1700" spc="285">
                <a:solidFill>
                  <a:srgbClr val="203764"/>
                </a:solidFill>
                <a:latin typeface="Cambria"/>
                <a:cs typeface="Cambria"/>
              </a:rPr>
              <a:t>   </a:t>
            </a:r>
            <a:r>
              <a:rPr dirty="0" sz="1700" spc="90">
                <a:solidFill>
                  <a:srgbClr val="203764"/>
                </a:solidFill>
                <a:latin typeface="Cambria"/>
                <a:cs typeface="Cambria"/>
              </a:rPr>
              <a:t>the</a:t>
            </a:r>
            <a:r>
              <a:rPr dirty="0" sz="1700" spc="285">
                <a:solidFill>
                  <a:srgbClr val="203764"/>
                </a:solidFill>
                <a:latin typeface="Cambria"/>
                <a:cs typeface="Cambria"/>
              </a:rPr>
              <a:t>   </a:t>
            </a:r>
            <a:r>
              <a:rPr dirty="0" sz="1700" spc="85">
                <a:solidFill>
                  <a:srgbClr val="203764"/>
                </a:solidFill>
                <a:latin typeface="Cambria"/>
                <a:cs typeface="Cambria"/>
              </a:rPr>
              <a:t>system </a:t>
            </a:r>
            <a:r>
              <a:rPr dirty="0" sz="1700" spc="60">
                <a:solidFill>
                  <a:srgbClr val="203764"/>
                </a:solidFill>
                <a:latin typeface="Cambria"/>
                <a:cs typeface="Cambria"/>
              </a:rPr>
              <a:t>provides</a:t>
            </a:r>
            <a:r>
              <a:rPr dirty="0" sz="1700" spc="375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203764"/>
                </a:solidFill>
                <a:latin typeface="Cambria"/>
                <a:cs typeface="Cambria"/>
              </a:rPr>
              <a:t>a</a:t>
            </a:r>
            <a:r>
              <a:rPr dirty="0" sz="1700" spc="380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203764"/>
                </a:solidFill>
                <a:latin typeface="Cambria"/>
                <a:cs typeface="Cambria"/>
              </a:rPr>
              <a:t>smarter,</a:t>
            </a:r>
            <a:r>
              <a:rPr dirty="0" sz="1700" spc="375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203764"/>
                </a:solidFill>
                <a:latin typeface="Cambria"/>
                <a:cs typeface="Cambria"/>
              </a:rPr>
              <a:t>faster,</a:t>
            </a:r>
            <a:r>
              <a:rPr dirty="0" sz="1700" spc="375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140">
                <a:solidFill>
                  <a:srgbClr val="203764"/>
                </a:solidFill>
                <a:latin typeface="Cambria"/>
                <a:cs typeface="Cambria"/>
              </a:rPr>
              <a:t>and</a:t>
            </a:r>
            <a:r>
              <a:rPr dirty="0" sz="1700" spc="380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203764"/>
                </a:solidFill>
                <a:latin typeface="Cambria"/>
                <a:cs typeface="Cambria"/>
              </a:rPr>
              <a:t>more</a:t>
            </a:r>
            <a:r>
              <a:rPr dirty="0" sz="1700" spc="380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203764"/>
                </a:solidFill>
                <a:latin typeface="Cambria"/>
                <a:cs typeface="Cambria"/>
              </a:rPr>
              <a:t>economical</a:t>
            </a:r>
            <a:r>
              <a:rPr dirty="0" sz="1700" spc="375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203764"/>
                </a:solidFill>
                <a:latin typeface="Cambria"/>
                <a:cs typeface="Cambria"/>
              </a:rPr>
              <a:t>alternative </a:t>
            </a:r>
            <a:r>
              <a:rPr dirty="0" sz="1700">
                <a:solidFill>
                  <a:srgbClr val="203764"/>
                </a:solidFill>
                <a:latin typeface="Cambria"/>
                <a:cs typeface="Cambria"/>
              </a:rPr>
              <a:t>to</a:t>
            </a:r>
            <a:r>
              <a:rPr dirty="0" sz="1700" spc="210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203764"/>
                </a:solidFill>
                <a:latin typeface="Cambria"/>
                <a:cs typeface="Cambria"/>
              </a:rPr>
              <a:t>traditional</a:t>
            </a:r>
            <a:r>
              <a:rPr dirty="0" sz="1700" spc="204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203764"/>
                </a:solidFill>
                <a:latin typeface="Cambria"/>
                <a:cs typeface="Cambria"/>
              </a:rPr>
              <a:t>cross-border</a:t>
            </a:r>
            <a:r>
              <a:rPr dirty="0" sz="1700" spc="204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203764"/>
                </a:solidFill>
                <a:latin typeface="Cambria"/>
                <a:cs typeface="Cambria"/>
              </a:rPr>
              <a:t>payment</a:t>
            </a:r>
            <a:r>
              <a:rPr dirty="0" sz="1700" spc="204">
                <a:solidFill>
                  <a:srgbClr val="203764"/>
                </a:solidFill>
                <a:latin typeface="Cambria"/>
                <a:cs typeface="Cambria"/>
              </a:rPr>
              <a:t> </a:t>
            </a:r>
            <a:r>
              <a:rPr dirty="0" sz="1700" spc="100">
                <a:solidFill>
                  <a:srgbClr val="203764"/>
                </a:solidFill>
                <a:latin typeface="Cambria"/>
                <a:cs typeface="Cambria"/>
              </a:rPr>
              <a:t>methods.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341700" y="2397124"/>
            <a:ext cx="129540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Techniques: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426846" y="2655145"/>
            <a:ext cx="3096260" cy="2347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7505" indent="-344805">
              <a:lnSpc>
                <a:spcPts val="2035"/>
              </a:lnSpc>
              <a:spcBef>
                <a:spcPts val="90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145">
                <a:solidFill>
                  <a:srgbClr val="002060"/>
                </a:solidFill>
                <a:latin typeface="Cambria"/>
                <a:cs typeface="Cambria"/>
              </a:rPr>
              <a:t>Graph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Modeling</a:t>
            </a:r>
            <a:endParaRPr sz="1700">
              <a:latin typeface="Cambria"/>
              <a:cs typeface="Cambria"/>
            </a:endParaRPr>
          </a:p>
          <a:p>
            <a:pPr marL="357505" marR="202565" indent="-345440">
              <a:lnSpc>
                <a:spcPts val="2030"/>
              </a:lnSpc>
              <a:spcBef>
                <a:spcPts val="75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Dijkstra's</a:t>
            </a:r>
            <a:r>
              <a:rPr dirty="0" sz="1700" spc="20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Shortest-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Path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Algorithm</a:t>
            </a:r>
            <a:endParaRPr sz="1700">
              <a:latin typeface="Cambria"/>
              <a:cs typeface="Cambria"/>
            </a:endParaRPr>
          </a:p>
          <a:p>
            <a:pPr marL="357505" indent="-344805">
              <a:lnSpc>
                <a:spcPts val="1964"/>
              </a:lnSpc>
              <a:buFont typeface="Arial MT"/>
              <a:buChar char="●"/>
              <a:tabLst>
                <a:tab pos="357505" algn="l"/>
              </a:tabLst>
            </a:pP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Depth-Limited</a:t>
            </a:r>
            <a:r>
              <a:rPr dirty="0" sz="1700" spc="204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DFS</a:t>
            </a:r>
            <a:endParaRPr sz="1700">
              <a:latin typeface="Cambria"/>
              <a:cs typeface="Cambria"/>
            </a:endParaRPr>
          </a:p>
          <a:p>
            <a:pPr marL="357505" marR="397510" indent="-345440">
              <a:lnSpc>
                <a:spcPts val="2030"/>
              </a:lnSpc>
              <a:spcBef>
                <a:spcPts val="70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In-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Memory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Constraint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Validation</a:t>
            </a:r>
            <a:endParaRPr sz="1700">
              <a:latin typeface="Cambria"/>
              <a:cs typeface="Cambria"/>
            </a:endParaRPr>
          </a:p>
          <a:p>
            <a:pPr marL="357505" indent="-344805">
              <a:lnSpc>
                <a:spcPts val="1964"/>
              </a:lnSpc>
              <a:buFont typeface="Arial MT"/>
              <a:buChar char="●"/>
              <a:tabLst>
                <a:tab pos="357505" algn="l"/>
              </a:tabLst>
            </a:pP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Rule-</a:t>
            </a:r>
            <a:r>
              <a:rPr dirty="0" sz="1700" spc="125">
                <a:solidFill>
                  <a:srgbClr val="002060"/>
                </a:solidFill>
                <a:latin typeface="Cambria"/>
                <a:cs typeface="Cambria"/>
              </a:rPr>
              <a:t>Based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Explainability</a:t>
            </a:r>
            <a:endParaRPr sz="1700">
              <a:latin typeface="Cambria"/>
              <a:cs typeface="Cambria"/>
            </a:endParaRPr>
          </a:p>
          <a:p>
            <a:pPr marL="357505" marR="614680" indent="-345440">
              <a:lnSpc>
                <a:spcPts val="2030"/>
              </a:lnSpc>
              <a:spcBef>
                <a:spcPts val="70"/>
              </a:spcBef>
              <a:buFont typeface="Arial MT"/>
              <a:buChar char="●"/>
              <a:tabLst>
                <a:tab pos="357505" algn="l"/>
              </a:tabLst>
            </a:pP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Asynchronous</a:t>
            </a:r>
            <a:r>
              <a:rPr dirty="0" sz="1700" spc="22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State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Management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925" y="12291694"/>
            <a:ext cx="6881676" cy="3241105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7393970" y="9068301"/>
            <a:ext cx="6675755" cy="303530"/>
          </a:xfrm>
          <a:prstGeom prst="rect">
            <a:avLst/>
          </a:prstGeom>
          <a:solidFill>
            <a:srgbClr val="FFC000"/>
          </a:solidFill>
          <a:ln w="8959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002060"/>
                </a:solidFill>
                <a:latin typeface="Comic Sans MS"/>
                <a:cs typeface="Comic Sans MS"/>
              </a:rPr>
              <a:t>Results</a:t>
            </a:r>
            <a:r>
              <a:rPr dirty="0" sz="1700" spc="60" b="1">
                <a:solidFill>
                  <a:srgbClr val="002060"/>
                </a:solidFill>
                <a:latin typeface="Comic Sans MS"/>
                <a:cs typeface="Comic Sans MS"/>
              </a:rPr>
              <a:t> </a:t>
            </a:r>
            <a:r>
              <a:rPr dirty="0" sz="1700" b="1">
                <a:solidFill>
                  <a:srgbClr val="002060"/>
                </a:solidFill>
                <a:latin typeface="Comic Sans MS"/>
                <a:cs typeface="Comic Sans MS"/>
              </a:rPr>
              <a:t>and</a:t>
            </a:r>
            <a:r>
              <a:rPr dirty="0" sz="1700" spc="65" b="1">
                <a:solidFill>
                  <a:srgbClr val="002060"/>
                </a:solidFill>
                <a:latin typeface="Comic Sans MS"/>
                <a:cs typeface="Comic Sans MS"/>
              </a:rPr>
              <a:t> </a:t>
            </a:r>
            <a:r>
              <a:rPr dirty="0" sz="1700" spc="-10" b="1">
                <a:solidFill>
                  <a:srgbClr val="002060"/>
                </a:solidFill>
                <a:latin typeface="Comic Sans MS"/>
                <a:cs typeface="Comic Sans MS"/>
              </a:rPr>
              <a:t>Discussions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03940" y="5569144"/>
            <a:ext cx="6414770" cy="163766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75" b="1">
                <a:solidFill>
                  <a:srgbClr val="002060"/>
                </a:solidFill>
                <a:latin typeface="Cambria"/>
                <a:cs typeface="Cambria"/>
              </a:rPr>
              <a:t>Dijkstra's</a:t>
            </a:r>
            <a:r>
              <a:rPr dirty="0" sz="1700" spc="204" b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0" b="1">
                <a:solidFill>
                  <a:srgbClr val="002060"/>
                </a:solidFill>
                <a:latin typeface="Cambria"/>
                <a:cs typeface="Cambria"/>
              </a:rPr>
              <a:t>Shortest</a:t>
            </a:r>
            <a:r>
              <a:rPr dirty="0" sz="1700" spc="204" b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0" b="1">
                <a:solidFill>
                  <a:srgbClr val="002060"/>
                </a:solidFill>
                <a:latin typeface="Cambria"/>
                <a:cs typeface="Cambria"/>
              </a:rPr>
              <a:t>Path</a:t>
            </a:r>
            <a:r>
              <a:rPr dirty="0" sz="1700" spc="200" b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5" b="1">
                <a:solidFill>
                  <a:srgbClr val="002060"/>
                </a:solidFill>
                <a:latin typeface="Cambria"/>
                <a:cs typeface="Cambria"/>
              </a:rPr>
              <a:t>Algorithm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14500"/>
              </a:lnSpc>
              <a:spcBef>
                <a:spcPts val="1320"/>
              </a:spcBef>
            </a:pP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Finds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the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25">
                <a:solidFill>
                  <a:srgbClr val="002060"/>
                </a:solidFill>
                <a:latin typeface="Cambria"/>
                <a:cs typeface="Cambria"/>
              </a:rPr>
              <a:t>minimum-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cost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4">
                <a:solidFill>
                  <a:srgbClr val="002060"/>
                </a:solidFill>
                <a:latin typeface="Cambria"/>
                <a:cs typeface="Cambria"/>
              </a:rPr>
              <a:t>path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in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weighted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4">
                <a:solidFill>
                  <a:srgbClr val="002060"/>
                </a:solidFill>
                <a:latin typeface="Cambria"/>
                <a:cs typeface="Cambria"/>
              </a:rPr>
              <a:t>graph.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002060"/>
                </a:solidFill>
                <a:latin typeface="Cambria"/>
                <a:cs typeface="Cambria"/>
              </a:rPr>
              <a:t>Identifies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the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cheapest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700" spc="17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route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based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on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exchange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rates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and </a:t>
            </a:r>
            <a:r>
              <a:rPr dirty="0" sz="1700" spc="100">
                <a:solidFill>
                  <a:srgbClr val="002060"/>
                </a:solidFill>
                <a:latin typeface="Cambria"/>
                <a:cs typeface="Cambria"/>
              </a:rPr>
              <a:t>transaction</a:t>
            </a:r>
            <a:r>
              <a:rPr dirty="0" sz="1700" spc="20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fees.</a:t>
            </a:r>
            <a:r>
              <a:rPr dirty="0" sz="1700" spc="20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Time</a:t>
            </a:r>
            <a:r>
              <a:rPr dirty="0" sz="1700" spc="204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Complexity:</a:t>
            </a:r>
            <a:r>
              <a:rPr dirty="0" sz="1700" spc="20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O((V</a:t>
            </a:r>
            <a:r>
              <a:rPr dirty="0" sz="1700" spc="20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+</a:t>
            </a:r>
            <a:r>
              <a:rPr dirty="0" sz="1700" spc="204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E)</a:t>
            </a:r>
            <a:r>
              <a:rPr dirty="0" sz="1700" spc="20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log</a:t>
            </a:r>
            <a:r>
              <a:rPr dirty="0" sz="1700" spc="204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V)</a:t>
            </a:r>
            <a:r>
              <a:rPr dirty="0" sz="1700" spc="1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20">
                <a:solidFill>
                  <a:srgbClr val="002060"/>
                </a:solidFill>
                <a:latin typeface="Cambria"/>
                <a:cs typeface="Cambria"/>
              </a:rPr>
              <a:t>using</a:t>
            </a:r>
            <a:r>
              <a:rPr dirty="0" sz="1700" spc="204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a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priority</a:t>
            </a:r>
            <a:r>
              <a:rPr dirty="0" sz="1700" spc="70">
                <a:solidFill>
                  <a:srgbClr val="002060"/>
                </a:solidFill>
                <a:latin typeface="Cambria"/>
                <a:cs typeface="Cambria"/>
              </a:rPr>
              <a:t> 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queue.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503940" y="7387233"/>
            <a:ext cx="6234430" cy="1614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00" b="1">
                <a:solidFill>
                  <a:srgbClr val="002060"/>
                </a:solidFill>
                <a:latin typeface="Cambria"/>
                <a:cs typeface="Cambria"/>
              </a:rPr>
              <a:t>Depth-</a:t>
            </a:r>
            <a:r>
              <a:rPr dirty="0" sz="1700" spc="95" b="1">
                <a:solidFill>
                  <a:srgbClr val="002060"/>
                </a:solidFill>
                <a:latin typeface="Cambria"/>
                <a:cs typeface="Cambria"/>
              </a:rPr>
              <a:t>Limited</a:t>
            </a:r>
            <a:r>
              <a:rPr dirty="0" sz="1700" spc="220" b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0" b="1">
                <a:solidFill>
                  <a:srgbClr val="002060"/>
                </a:solidFill>
                <a:latin typeface="Cambria"/>
                <a:cs typeface="Cambria"/>
              </a:rPr>
              <a:t>Depth-</a:t>
            </a:r>
            <a:r>
              <a:rPr dirty="0" sz="1700" spc="80" b="1">
                <a:solidFill>
                  <a:srgbClr val="002060"/>
                </a:solidFill>
                <a:latin typeface="Cambria"/>
                <a:cs typeface="Cambria"/>
              </a:rPr>
              <a:t>First</a:t>
            </a:r>
            <a:r>
              <a:rPr dirty="0" sz="1700" spc="220" b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0" b="1">
                <a:solidFill>
                  <a:srgbClr val="002060"/>
                </a:solidFill>
                <a:latin typeface="Cambria"/>
                <a:cs typeface="Cambria"/>
              </a:rPr>
              <a:t>Search</a:t>
            </a:r>
            <a:r>
              <a:rPr dirty="0" sz="1700" spc="220" b="1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002060"/>
                </a:solidFill>
                <a:latin typeface="Cambria"/>
                <a:cs typeface="Cambria"/>
              </a:rPr>
              <a:t>(DFS)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14500"/>
              </a:lnSpc>
              <a:spcBef>
                <a:spcPts val="1130"/>
              </a:spcBef>
            </a:pP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Explores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all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possible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25">
                <a:solidFill>
                  <a:srgbClr val="002060"/>
                </a:solidFill>
                <a:latin typeface="Cambria"/>
                <a:cs typeface="Cambria"/>
              </a:rPr>
              <a:t>paths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45">
                <a:solidFill>
                  <a:srgbClr val="002060"/>
                </a:solidFill>
                <a:latin typeface="Cambria"/>
                <a:cs typeface="Cambria"/>
              </a:rPr>
              <a:t>up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to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fixed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10">
                <a:solidFill>
                  <a:srgbClr val="002060"/>
                </a:solidFill>
                <a:latin typeface="Cambria"/>
                <a:cs typeface="Cambria"/>
              </a:rPr>
              <a:t>depth.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Discovers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valid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non-</a:t>
            </a:r>
            <a:r>
              <a:rPr dirty="0" sz="1700" spc="85">
                <a:solidFill>
                  <a:srgbClr val="002060"/>
                </a:solidFill>
                <a:latin typeface="Cambria"/>
                <a:cs typeface="Cambria"/>
              </a:rPr>
              <a:t>cyclic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05">
                <a:solidFill>
                  <a:srgbClr val="002060"/>
                </a:solidFill>
                <a:latin typeface="Cambria"/>
                <a:cs typeface="Cambria"/>
              </a:rPr>
              <a:t>payment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routes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002060"/>
                </a:solidFill>
                <a:latin typeface="Cambria"/>
                <a:cs typeface="Cambria"/>
              </a:rPr>
              <a:t>with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002060"/>
                </a:solidFill>
                <a:latin typeface="Cambria"/>
                <a:cs typeface="Cambria"/>
              </a:rPr>
              <a:t>a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40">
                <a:solidFill>
                  <a:srgbClr val="002060"/>
                </a:solidFill>
                <a:latin typeface="Cambria"/>
                <a:cs typeface="Cambria"/>
              </a:rPr>
              <a:t>maximum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of</a:t>
            </a:r>
            <a:r>
              <a:rPr dirty="0" sz="1700" spc="18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three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currency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25">
                <a:solidFill>
                  <a:srgbClr val="002060"/>
                </a:solidFill>
                <a:latin typeface="Cambria"/>
                <a:cs typeface="Cambria"/>
              </a:rPr>
              <a:t>hops.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Time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002060"/>
                </a:solidFill>
                <a:latin typeface="Cambria"/>
                <a:cs typeface="Cambria"/>
              </a:rPr>
              <a:t>Complexity: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002060"/>
                </a:solidFill>
                <a:latin typeface="Cambria"/>
                <a:cs typeface="Cambria"/>
              </a:rPr>
              <a:t>O(V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+</a:t>
            </a:r>
            <a:r>
              <a:rPr dirty="0" sz="1700" spc="19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E)</a:t>
            </a:r>
            <a:r>
              <a:rPr dirty="0" sz="1700" spc="18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002060"/>
                </a:solidFill>
                <a:latin typeface="Cambria"/>
                <a:cs typeface="Cambria"/>
              </a:rPr>
              <a:t>for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155">
                <a:solidFill>
                  <a:srgbClr val="002060"/>
                </a:solidFill>
                <a:latin typeface="Cambria"/>
                <a:cs typeface="Cambria"/>
              </a:rPr>
              <a:t>an</a:t>
            </a:r>
            <a:r>
              <a:rPr dirty="0" sz="1700" spc="19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002060"/>
                </a:solidFill>
                <a:latin typeface="Cambria"/>
                <a:cs typeface="Cambria"/>
              </a:rPr>
              <a:t>adjacency </a:t>
            </a:r>
            <a:r>
              <a:rPr dirty="0" sz="1700" spc="65">
                <a:solidFill>
                  <a:srgbClr val="002060"/>
                </a:solidFill>
                <a:latin typeface="Cambria"/>
                <a:cs typeface="Cambria"/>
              </a:rPr>
              <a:t>list</a:t>
            </a:r>
            <a:r>
              <a:rPr dirty="0" sz="1700" spc="175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002060"/>
                </a:solidFill>
                <a:latin typeface="Cambria"/>
                <a:cs typeface="Cambria"/>
              </a:rPr>
              <a:t>representation.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463697" y="9620464"/>
            <a:ext cx="6386195" cy="3176905"/>
            <a:chOff x="7463697" y="9620464"/>
            <a:chExt cx="6386195" cy="3176905"/>
          </a:xfrm>
        </p:grpSpPr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3697" y="9691145"/>
              <a:ext cx="3877080" cy="196212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40789" y="9620464"/>
              <a:ext cx="2508531" cy="31768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Poster</dc:title>
  <dcterms:created xsi:type="dcterms:W3CDTF">2026-07-09T01:19:39Z</dcterms:created>
  <dcterms:modified xsi:type="dcterms:W3CDTF">2026-07-09T01:19:39Z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2026-07-09T00:00:00Z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2026-07-09T00:00:00Z</vt:filetime>
  </property>
</Properties>
</file>